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4"/>
  </p:sldMasterIdLst>
  <p:notesMasterIdLst>
    <p:notesMasterId r:id="rId21"/>
  </p:notesMasterIdLst>
  <p:handoutMasterIdLst>
    <p:handoutMasterId r:id="rId22"/>
  </p:handoutMasterIdLst>
  <p:sldIdLst>
    <p:sldId id="277" r:id="rId5"/>
    <p:sldId id="329" r:id="rId6"/>
    <p:sldId id="361" r:id="rId7"/>
    <p:sldId id="370" r:id="rId8"/>
    <p:sldId id="369" r:id="rId9"/>
    <p:sldId id="256" r:id="rId10"/>
    <p:sldId id="365" r:id="rId11"/>
    <p:sldId id="257" r:id="rId12"/>
    <p:sldId id="372" r:id="rId13"/>
    <p:sldId id="374" r:id="rId14"/>
    <p:sldId id="373" r:id="rId15"/>
    <p:sldId id="375" r:id="rId16"/>
    <p:sldId id="376" r:id="rId17"/>
    <p:sldId id="368" r:id="rId18"/>
    <p:sldId id="345" r:id="rId19"/>
    <p:sldId id="346" r:id="rId2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7CE84F3-28C3-443E-9E96-99CF82512B78}" styleName="Dark Style 1 - Accent 2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wholeTbl>
    <a:band1H>
      <a:tcStyle>
        <a:tcBdr/>
        <a:fill>
          <a:solidFill>
            <a:schemeClr val="accent2">
              <a:shade val="60000"/>
            </a:schemeClr>
          </a:solidFill>
        </a:fill>
      </a:tcStyle>
    </a:band1H>
    <a:band1V>
      <a:tcStyle>
        <a:tcBdr/>
        <a:fill>
          <a:solidFill>
            <a:schemeClr val="accent2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2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2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2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0660B408-B3CF-4A94-85FC-2B1E0A45F4A2}" styleName="Dark Style 2 - Accent 1/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424" autoAdjust="0"/>
    <p:restoredTop sz="96137"/>
  </p:normalViewPr>
  <p:slideViewPr>
    <p:cSldViewPr>
      <p:cViewPr>
        <p:scale>
          <a:sx n="66" d="100"/>
          <a:sy n="66" d="100"/>
        </p:scale>
        <p:origin x="1998" y="96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>
      <p:cViewPr varScale="1">
        <p:scale>
          <a:sx n="69" d="100"/>
          <a:sy n="69" d="100"/>
        </p:scale>
        <p:origin x="2568" y="33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tableStyles" Target="tableStyles.xml"/><Relationship Id="rId3" Type="http://schemas.openxmlformats.org/officeDocument/2006/relationships/customXml" Target="../customXml/item3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9BAAE38-79BE-4082-9A4D-2BEC47341C04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9F15613-D24F-46B4-9010-BD7B318E3C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405032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85BCF22-2D75-4779-9C8B-6270AA3FA919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C0B8AC8-E212-48B2-9917-7448FC83DD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65908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0B8AC8-E212-48B2-9917-7448FC83DD17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633707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ABBB43-DF8A-938B-C80C-51DC57CD82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EA0203E-AABD-2E62-0711-F32A0294CFC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68E9C7D-830B-870C-618F-551A16DF210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6FA1F8B-C882-863A-CC52-3E7BC4AD1FF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0B8AC8-E212-48B2-9917-7448FC83DD17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985366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FC77DD-DF4D-ECCE-F940-459BB4A42A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C3C49B1-2B94-B101-AFFF-047B54AB2B6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7623712-D4C2-E378-3B3A-AFCAB3C4179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04BC963-C729-2C70-C204-32B82511425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0B8AC8-E212-48B2-9917-7448FC83DD17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848102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4B9A9E5-4F7F-4A7D-9DE1-899232329269}" type="slidenum">
              <a:rPr lang="en-GB" smtClean="0"/>
              <a:t>6</a:t>
            </a:fld>
            <a:endParaRPr lang="en-GB"/>
          </a:p>
        </p:txBody>
      </p:sp>
      <p:sp>
        <p:nvSpPr>
          <p:cNvPr id="6" name="Header Placeholder 5">
            <a:extLst>
              <a:ext uri="{FF2B5EF4-FFF2-40B4-BE49-F238E27FC236}">
                <a16:creationId xmlns:a16="http://schemas.microsoft.com/office/drawing/2014/main" id="{BA35E962-82CD-7777-AF6E-003952B4DCC9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pPr rtl="0"/>
            <a:r>
              <a:rPr lang="en-GB" noProof="0"/>
              <a:t>Smart Digital Wardrobe</a:t>
            </a:r>
          </a:p>
        </p:txBody>
      </p:sp>
    </p:spTree>
    <p:extLst>
      <p:ext uri="{BB962C8B-B14F-4D97-AF65-F5344CB8AC3E}">
        <p14:creationId xmlns:p14="http://schemas.microsoft.com/office/powerpoint/2010/main" val="277233402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Project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914400" y="762000"/>
            <a:ext cx="10363200" cy="1470025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Add the Project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1828800" y="25146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Project ID</a:t>
            </a:r>
          </a:p>
        </p:txBody>
      </p:sp>
      <p:pic>
        <p:nvPicPr>
          <p:cNvPr id="20" name="Picture 19" descr="A picture containing photo, table, person, monitor&#10;&#10;Description automatically generated">
            <a:extLst>
              <a:ext uri="{FF2B5EF4-FFF2-40B4-BE49-F238E27FC236}">
                <a16:creationId xmlns:a16="http://schemas.microsoft.com/office/drawing/2014/main" id="{C4A8CD1C-223D-4C87-9519-FDBD49BC597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90286" r="71976"/>
          <a:stretch/>
        </p:blipFill>
        <p:spPr>
          <a:xfrm>
            <a:off x="0" y="6373302"/>
            <a:ext cx="2514600" cy="4903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6449485"/>
      </p:ext>
    </p:extLst>
  </p:cSld>
  <p:clrMapOvr>
    <a:masterClrMapping/>
  </p:clrMapOvr>
  <p:transition spd="med">
    <p:pull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20" name="Picture 19" descr="A picture containing photo, table, person, monitor&#10;&#10;Description automatically generated">
            <a:extLst>
              <a:ext uri="{FF2B5EF4-FFF2-40B4-BE49-F238E27FC236}">
                <a16:creationId xmlns:a16="http://schemas.microsoft.com/office/drawing/2014/main" id="{C4A8CD1C-223D-4C87-9519-FDBD49BC597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90286" r="71976"/>
          <a:stretch/>
        </p:blipFill>
        <p:spPr>
          <a:xfrm>
            <a:off x="0" y="6373302"/>
            <a:ext cx="2514600" cy="4903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7088166"/>
      </p:ext>
    </p:extLst>
  </p:cSld>
  <p:clrMapOvr>
    <a:masterClrMapping/>
  </p:clrMapOvr>
  <p:transition spd="med">
    <p:pull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Individual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二等辺三角形 9"/>
          <p:cNvSpPr/>
          <p:nvPr userDrawn="1"/>
        </p:nvSpPr>
        <p:spPr>
          <a:xfrm>
            <a:off x="0" y="6482208"/>
            <a:ext cx="12192000" cy="376686"/>
          </a:xfrm>
          <a:prstGeom prst="triangle">
            <a:avLst>
              <a:gd name="adj" fmla="val 62762"/>
            </a:avLst>
          </a:prstGeom>
          <a:solidFill>
            <a:schemeClr val="bg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800" dirty="0"/>
          </a:p>
        </p:txBody>
      </p:sp>
      <p:sp>
        <p:nvSpPr>
          <p:cNvPr id="13" name="二等辺三角形 10"/>
          <p:cNvSpPr/>
          <p:nvPr userDrawn="1"/>
        </p:nvSpPr>
        <p:spPr>
          <a:xfrm>
            <a:off x="0" y="6676906"/>
            <a:ext cx="12192000" cy="181095"/>
          </a:xfrm>
          <a:prstGeom prst="triangle">
            <a:avLst>
              <a:gd name="adj" fmla="val 39397"/>
            </a:avLst>
          </a:prstGeom>
          <a:solidFill>
            <a:schemeClr val="bg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800"/>
          </a:p>
        </p:txBody>
      </p:sp>
    </p:spTree>
    <p:extLst>
      <p:ext uri="{BB962C8B-B14F-4D97-AF65-F5344CB8AC3E}">
        <p14:creationId xmlns:p14="http://schemas.microsoft.com/office/powerpoint/2010/main" val="1188891132"/>
      </p:ext>
    </p:extLst>
  </p:cSld>
  <p:clrMapOvr>
    <a:masterClrMapping/>
  </p:clrMapOvr>
  <p:transition spd="med">
    <p:pull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verall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820238873"/>
      </p:ext>
    </p:extLst>
  </p:cSld>
  <p:clrMapOvr>
    <a:masterClrMapping/>
  </p:clrMapOvr>
  <p:transition spd="med">
    <p:pull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963084" y="2837087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dirty="0"/>
              <a:t>Section Title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963084" y="4237261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Section Sub-Titles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77C29E58-4878-471A-A8CF-FA8607A4052E}"/>
              </a:ext>
            </a:extLst>
          </p:cNvPr>
          <p:cNvSpPr/>
          <p:nvPr userDrawn="1"/>
        </p:nvSpPr>
        <p:spPr>
          <a:xfrm>
            <a:off x="2632435" y="6492874"/>
            <a:ext cx="6816365" cy="3651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800" b="1" dirty="0">
                <a:solidFill>
                  <a:schemeClr val="tx1"/>
                </a:solidFill>
              </a:rPr>
              <a:t>ITXXXXXXXX</a:t>
            </a:r>
            <a:r>
              <a:rPr lang="en-US" sz="1800" dirty="0">
                <a:solidFill>
                  <a:schemeClr val="tx1"/>
                </a:solidFill>
              </a:rPr>
              <a:t>   |   &lt;</a:t>
            </a:r>
            <a:r>
              <a:rPr lang="en-US" sz="1800" b="1" dirty="0">
                <a:solidFill>
                  <a:schemeClr val="tx1"/>
                </a:solidFill>
              </a:rPr>
              <a:t>&lt;Student Name&gt;&gt;   </a:t>
            </a:r>
            <a:r>
              <a:rPr lang="en-US" sz="1800" dirty="0">
                <a:solidFill>
                  <a:schemeClr val="tx1"/>
                </a:solidFill>
              </a:rPr>
              <a:t>|   </a:t>
            </a:r>
            <a:r>
              <a:rPr lang="en-US" sz="1800" b="0" dirty="0">
                <a:solidFill>
                  <a:schemeClr val="tx1"/>
                </a:solidFill>
              </a:rPr>
              <a:t>&lt;&lt;Project ID&gt;&gt;</a:t>
            </a:r>
          </a:p>
        </p:txBody>
      </p:sp>
    </p:spTree>
    <p:extLst>
      <p:ext uri="{BB962C8B-B14F-4D97-AF65-F5344CB8AC3E}">
        <p14:creationId xmlns:p14="http://schemas.microsoft.com/office/powerpoint/2010/main" val="3293331645"/>
      </p:ext>
    </p:extLst>
  </p:cSld>
  <p:clrMapOvr>
    <a:masterClrMapping/>
  </p:clrMapOvr>
  <p:transition spd="med">
    <p:pull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tudent Information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963084" y="2837087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dirty="0"/>
              <a:t>Student IT Number | Student Name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963084" y="4237261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Student’s Specialization</a:t>
            </a:r>
          </a:p>
        </p:txBody>
      </p:sp>
      <p:sp>
        <p:nvSpPr>
          <p:cNvPr id="13" name="二等辺三角形 10"/>
          <p:cNvSpPr/>
          <p:nvPr userDrawn="1"/>
        </p:nvSpPr>
        <p:spPr>
          <a:xfrm>
            <a:off x="0" y="6676906"/>
            <a:ext cx="12192000" cy="181095"/>
          </a:xfrm>
          <a:prstGeom prst="triangle">
            <a:avLst>
              <a:gd name="adj" fmla="val 39397"/>
            </a:avLst>
          </a:prstGeom>
          <a:solidFill>
            <a:schemeClr val="bg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80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A8789F7-2DE1-4BD0-98A0-4D627E8C7924}"/>
              </a:ext>
            </a:extLst>
          </p:cNvPr>
          <p:cNvSpPr/>
          <p:nvPr userDrawn="1"/>
        </p:nvSpPr>
        <p:spPr>
          <a:xfrm>
            <a:off x="10134600" y="152400"/>
            <a:ext cx="1981200" cy="228600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Student Must add a professional photo to this cage</a:t>
            </a:r>
          </a:p>
        </p:txBody>
      </p:sp>
    </p:spTree>
    <p:extLst>
      <p:ext uri="{BB962C8B-B14F-4D97-AF65-F5344CB8AC3E}">
        <p14:creationId xmlns:p14="http://schemas.microsoft.com/office/powerpoint/2010/main" val="2008593441"/>
      </p:ext>
    </p:extLst>
  </p:cSld>
  <p:clrMapOvr>
    <a:masterClrMapping/>
  </p:clrMapOvr>
  <p:transition spd="med">
    <p:pull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830358638"/>
      </p:ext>
    </p:extLst>
  </p:cSld>
  <p:clrMapOvr>
    <a:masterClrMapping/>
  </p:clrMapOvr>
  <p:transition spd="med">
    <p:pull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257086879"/>
      </p:ext>
    </p:extLst>
  </p:cSld>
  <p:clrMapOvr>
    <a:masterClrMapping/>
  </p:clrMapOvr>
  <p:transition spd="med">
    <p:pull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265089377"/>
      </p:ext>
    </p:extLst>
  </p:cSld>
  <p:clrMapOvr>
    <a:masterClrMapping/>
  </p:clrMapOvr>
  <p:transition spd="med">
    <p:pull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二等辺三角形 9"/>
          <p:cNvSpPr/>
          <p:nvPr userDrawn="1"/>
        </p:nvSpPr>
        <p:spPr>
          <a:xfrm>
            <a:off x="0" y="6482208"/>
            <a:ext cx="12192000" cy="376686"/>
          </a:xfrm>
          <a:prstGeom prst="triangle">
            <a:avLst>
              <a:gd name="adj" fmla="val 62762"/>
            </a:avLst>
          </a:prstGeom>
          <a:solidFill>
            <a:schemeClr val="bg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800"/>
          </a:p>
        </p:txBody>
      </p:sp>
      <p:sp>
        <p:nvSpPr>
          <p:cNvPr id="11" name="二等辺三角形 10"/>
          <p:cNvSpPr/>
          <p:nvPr userDrawn="1"/>
        </p:nvSpPr>
        <p:spPr>
          <a:xfrm>
            <a:off x="0" y="6676906"/>
            <a:ext cx="12192000" cy="181095"/>
          </a:xfrm>
          <a:prstGeom prst="triangle">
            <a:avLst>
              <a:gd name="adj" fmla="val 39397"/>
            </a:avLst>
          </a:prstGeom>
          <a:solidFill>
            <a:schemeClr val="bg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800"/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A75490AD-C6C9-4021-8C34-1F6444AB48BF}"/>
              </a:ext>
            </a:extLst>
          </p:cNvPr>
          <p:cNvSpPr txBox="1">
            <a:spLocks/>
          </p:cNvSpPr>
          <p:nvPr userDrawn="1"/>
        </p:nvSpPr>
        <p:spPr>
          <a:xfrm>
            <a:off x="11435142" y="6492875"/>
            <a:ext cx="68065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7D6051F-EF20-4D26-A49B-A9D5F0B34CE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5222227"/>
      </p:ext>
    </p:extLst>
  </p:cSld>
  <p:clrMapOvr>
    <a:masterClrMapping/>
  </p:clrMapOvr>
  <p:transition spd="med">
    <p:pull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二等辺三角形 11"/>
          <p:cNvSpPr/>
          <p:nvPr userDrawn="1"/>
        </p:nvSpPr>
        <p:spPr>
          <a:xfrm>
            <a:off x="0" y="6406010"/>
            <a:ext cx="12192000" cy="452885"/>
          </a:xfrm>
          <a:prstGeom prst="triangle">
            <a:avLst>
              <a:gd name="adj" fmla="val 85448"/>
            </a:avLst>
          </a:prstGeom>
          <a:solidFill>
            <a:schemeClr val="bg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800"/>
          </a:p>
        </p:txBody>
      </p:sp>
      <p:sp>
        <p:nvSpPr>
          <p:cNvPr id="13" name="二等辺三角形 9"/>
          <p:cNvSpPr/>
          <p:nvPr userDrawn="1"/>
        </p:nvSpPr>
        <p:spPr>
          <a:xfrm>
            <a:off x="0" y="6482208"/>
            <a:ext cx="12192000" cy="376686"/>
          </a:xfrm>
          <a:prstGeom prst="triangle">
            <a:avLst>
              <a:gd name="adj" fmla="val 62762"/>
            </a:avLst>
          </a:prstGeom>
          <a:solidFill>
            <a:schemeClr val="bg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800"/>
          </a:p>
        </p:txBody>
      </p:sp>
      <p:sp>
        <p:nvSpPr>
          <p:cNvPr id="14" name="二等辺三角形 10"/>
          <p:cNvSpPr/>
          <p:nvPr userDrawn="1"/>
        </p:nvSpPr>
        <p:spPr>
          <a:xfrm>
            <a:off x="0" y="6676906"/>
            <a:ext cx="12192000" cy="181095"/>
          </a:xfrm>
          <a:prstGeom prst="triangle">
            <a:avLst>
              <a:gd name="adj" fmla="val 39397"/>
            </a:avLst>
          </a:prstGeom>
          <a:solidFill>
            <a:schemeClr val="bg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800"/>
          </a:p>
        </p:txBody>
      </p:sp>
    </p:spTree>
    <p:extLst>
      <p:ext uri="{BB962C8B-B14F-4D97-AF65-F5344CB8AC3E}">
        <p14:creationId xmlns:p14="http://schemas.microsoft.com/office/powerpoint/2010/main" val="557430036"/>
      </p:ext>
    </p:extLst>
  </p:cSld>
  <p:clrMapOvr>
    <a:masterClrMapping/>
  </p:clrMapOvr>
  <p:transition spd="med">
    <p:pull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二等辺三角形 10"/>
          <p:cNvSpPr/>
          <p:nvPr userDrawn="1"/>
        </p:nvSpPr>
        <p:spPr>
          <a:xfrm>
            <a:off x="0" y="6676906"/>
            <a:ext cx="12192000" cy="181095"/>
          </a:xfrm>
          <a:prstGeom prst="triangle">
            <a:avLst>
              <a:gd name="adj" fmla="val 39397"/>
            </a:avLst>
          </a:prstGeom>
          <a:solidFill>
            <a:schemeClr val="bg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800"/>
          </a:p>
        </p:txBody>
      </p:sp>
    </p:spTree>
    <p:extLst>
      <p:ext uri="{BB962C8B-B14F-4D97-AF65-F5344CB8AC3E}">
        <p14:creationId xmlns:p14="http://schemas.microsoft.com/office/powerpoint/2010/main" val="752404980"/>
      </p:ext>
    </p:extLst>
  </p:cSld>
  <p:clrMapOvr>
    <a:masterClrMapping/>
  </p:clrMapOvr>
  <p:transition spd="med">
    <p:pull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二等辺三角形 10"/>
          <p:cNvSpPr/>
          <p:nvPr userDrawn="1"/>
        </p:nvSpPr>
        <p:spPr>
          <a:xfrm>
            <a:off x="0" y="6676906"/>
            <a:ext cx="12192000" cy="181095"/>
          </a:xfrm>
          <a:prstGeom prst="triangle">
            <a:avLst>
              <a:gd name="adj" fmla="val 39397"/>
            </a:avLst>
          </a:prstGeom>
          <a:solidFill>
            <a:schemeClr val="bg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800"/>
          </a:p>
        </p:txBody>
      </p:sp>
    </p:spTree>
    <p:extLst>
      <p:ext uri="{BB962C8B-B14F-4D97-AF65-F5344CB8AC3E}">
        <p14:creationId xmlns:p14="http://schemas.microsoft.com/office/powerpoint/2010/main" val="3612078643"/>
      </p:ext>
    </p:extLst>
  </p:cSld>
  <p:clrMapOvr>
    <a:masterClrMapping/>
  </p:clrMapOvr>
  <p:transition spd="med">
    <p:pull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二等辺三角形 9"/>
          <p:cNvSpPr/>
          <p:nvPr userDrawn="1"/>
        </p:nvSpPr>
        <p:spPr>
          <a:xfrm>
            <a:off x="0" y="6482208"/>
            <a:ext cx="12192000" cy="376686"/>
          </a:xfrm>
          <a:prstGeom prst="triangle">
            <a:avLst>
              <a:gd name="adj" fmla="val 62762"/>
            </a:avLst>
          </a:prstGeom>
          <a:solidFill>
            <a:schemeClr val="bg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800"/>
          </a:p>
        </p:txBody>
      </p:sp>
      <p:sp>
        <p:nvSpPr>
          <p:cNvPr id="13" name="二等辺三角形 10"/>
          <p:cNvSpPr/>
          <p:nvPr userDrawn="1"/>
        </p:nvSpPr>
        <p:spPr>
          <a:xfrm>
            <a:off x="0" y="6676906"/>
            <a:ext cx="12192000" cy="181095"/>
          </a:xfrm>
          <a:prstGeom prst="triangle">
            <a:avLst>
              <a:gd name="adj" fmla="val 39397"/>
            </a:avLst>
          </a:prstGeom>
          <a:solidFill>
            <a:schemeClr val="bg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800"/>
          </a:p>
        </p:txBody>
      </p:sp>
    </p:spTree>
    <p:extLst>
      <p:ext uri="{BB962C8B-B14F-4D97-AF65-F5344CB8AC3E}">
        <p14:creationId xmlns:p14="http://schemas.microsoft.com/office/powerpoint/2010/main" val="3310850234"/>
      </p:ext>
    </p:extLst>
  </p:cSld>
  <p:clrMapOvr>
    <a:masterClrMapping/>
  </p:clrMapOvr>
  <p:transition spd="med">
    <p:pull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04800" y="304800"/>
            <a:ext cx="11684000" cy="79216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04800" y="1143000"/>
            <a:ext cx="11684000" cy="5181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C064364F-1F37-4C7B-B31F-2D4F671B2CB9}"/>
              </a:ext>
            </a:extLst>
          </p:cNvPr>
          <p:cNvSpPr txBox="1">
            <a:spLocks/>
          </p:cNvSpPr>
          <p:nvPr userDrawn="1"/>
        </p:nvSpPr>
        <p:spPr>
          <a:xfrm>
            <a:off x="11435142" y="6492875"/>
            <a:ext cx="68065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7D6051F-EF20-4D26-A49B-A9D5F0B34CE8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7" name="Picture 6" descr="A picture containing photo, table, person, monitor&#10;&#10;Description automatically generated">
            <a:extLst>
              <a:ext uri="{FF2B5EF4-FFF2-40B4-BE49-F238E27FC236}">
                <a16:creationId xmlns:a16="http://schemas.microsoft.com/office/drawing/2014/main" id="{0503738D-67F6-4FC8-88E8-C0D768AD331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6"/>
          <a:srcRect t="90286" r="71976"/>
          <a:stretch/>
        </p:blipFill>
        <p:spPr>
          <a:xfrm>
            <a:off x="0" y="6373302"/>
            <a:ext cx="2514600" cy="490308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A16EC11E-4ADA-413C-92B1-C0871F068AF1}"/>
              </a:ext>
            </a:extLst>
          </p:cNvPr>
          <p:cNvSpPr txBox="1"/>
          <p:nvPr userDrawn="1"/>
        </p:nvSpPr>
        <p:spPr>
          <a:xfrm>
            <a:off x="10287000" y="6536937"/>
            <a:ext cx="10668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98C4007C-554A-4B16-A31C-089CB53EF86F}" type="datetime1">
              <a:rPr lang="en-US" sz="1200" b="1" smtClean="0"/>
              <a:t>5/4/2026</a:t>
            </a:fld>
            <a:endParaRPr lang="en-US" sz="1200" b="1" dirty="0"/>
          </a:p>
        </p:txBody>
      </p:sp>
    </p:spTree>
    <p:extLst>
      <p:ext uri="{BB962C8B-B14F-4D97-AF65-F5344CB8AC3E}">
        <p14:creationId xmlns:p14="http://schemas.microsoft.com/office/powerpoint/2010/main" val="41374535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3" r:id="rId2"/>
    <p:sldLayoutId id="2147483650" r:id="rId3"/>
    <p:sldLayoutId id="2147483662" r:id="rId4"/>
    <p:sldLayoutId id="2147483651" r:id="rId5"/>
    <p:sldLayoutId id="2147483660" r:id="rId6"/>
    <p:sldLayoutId id="2147483652" r:id="rId7"/>
    <p:sldLayoutId id="2147483653" r:id="rId8"/>
    <p:sldLayoutId id="2147483654" r:id="rId9"/>
    <p:sldLayoutId id="2147483655" r:id="rId10"/>
    <p:sldLayoutId id="2147483656" r:id="rId11"/>
    <p:sldLayoutId id="2147483657" r:id="rId12"/>
    <p:sldLayoutId id="2147483658" r:id="rId13"/>
    <p:sldLayoutId id="2147483659" r:id="rId14"/>
  </p:sldLayoutIdLst>
  <p:transition spd="med">
    <p:pull/>
  </p:transition>
  <p:hf hdr="0" ftr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Adobe Devanagari" pitchFamily="18" charset="0"/>
          <a:ea typeface="+mj-ea"/>
          <a:cs typeface="Adobe Devanagari" pitchFamily="18" charset="0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Wingdings" pitchFamily="2" charset="2"/>
        <a:buChar char="Ø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Wingdings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jpg"/><Relationship Id="rId7" Type="http://schemas.openxmlformats.org/officeDocument/2006/relationships/image" Target="../media/image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jpeg"/><Relationship Id="rId4" Type="http://schemas.openxmlformats.org/officeDocument/2006/relationships/image" Target="../media/image5.jp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jpe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svg"/><Relationship Id="rId1" Type="http://schemas.openxmlformats.org/officeDocument/2006/relationships/slideLayout" Target="../slideLayouts/slideLayout8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svg"/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475E098-F3D0-453C-BBF5-A7C840F21F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3051"/>
            <a:ext cx="4011084" cy="5154614"/>
          </a:xfrm>
        </p:spPr>
        <p:txBody>
          <a:bodyPr anchor="b">
            <a:noAutofit/>
          </a:bodyPr>
          <a:lstStyle/>
          <a:p>
            <a:pPr algn="ctr">
              <a:lnSpc>
                <a:spcPct val="90000"/>
              </a:lnSpc>
            </a:pPr>
            <a:r>
              <a:rPr lang="en-US" sz="4000" dirty="0" err="1"/>
              <a:t>StyleMate</a:t>
            </a:r>
            <a:br>
              <a:rPr lang="en-US" sz="4000" dirty="0"/>
            </a:br>
            <a:r>
              <a:rPr lang="en-US" sz="4000" dirty="0"/>
              <a:t> AI-Powered Personal Fashion Assistant</a:t>
            </a:r>
            <a:br>
              <a:rPr lang="en-US" dirty="0"/>
            </a:br>
            <a:br>
              <a:rPr lang="en-US" sz="4000" dirty="0"/>
            </a:br>
            <a:endParaRPr lang="en-US" sz="4000" dirty="0"/>
          </a:p>
        </p:txBody>
      </p:sp>
      <p:pic>
        <p:nvPicPr>
          <p:cNvPr id="7170" name="Picture 2">
            <a:extLst>
              <a:ext uri="{FF2B5EF4-FFF2-40B4-BE49-F238E27FC236}">
                <a16:creationId xmlns:a16="http://schemas.microsoft.com/office/drawing/2014/main" id="{2E37CD49-CE11-7C69-0E02-DE65D298C4A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061" b="7061"/>
          <a:stretch/>
        </p:blipFill>
        <p:spPr bwMode="auto">
          <a:xfrm>
            <a:off x="5105400" y="273051"/>
            <a:ext cx="6815667" cy="5853113"/>
          </a:xfrm>
          <a:prstGeom prst="snip2Diag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88900" algn="tl" rotWithShape="0">
              <a:srgbClr val="000000">
                <a:alpha val="4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5" name="Subtitle 4">
            <a:extLst>
              <a:ext uri="{FF2B5EF4-FFF2-40B4-BE49-F238E27FC236}">
                <a16:creationId xmlns:a16="http://schemas.microsoft.com/office/drawing/2014/main" id="{288F3F03-40A0-499D-BDCC-A8E886D9D7C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8200" y="5427665"/>
            <a:ext cx="2743200" cy="698499"/>
          </a:xfrm>
        </p:spPr>
        <p:txBody>
          <a:bodyPr>
            <a:noAutofit/>
          </a:bodyPr>
          <a:lstStyle/>
          <a:p>
            <a:r>
              <a:rPr lang="en-US" sz="2000" dirty="0"/>
              <a:t>Project ID – 25-26J-302</a:t>
            </a:r>
          </a:p>
          <a:p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3813887311"/>
      </p:ext>
    </p:extLst>
  </p:cSld>
  <p:clrMapOvr>
    <a:masterClrMapping/>
  </p:clrMapOvr>
  <p:transition spd="med">
    <p:pull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6">
            <a:extLst>
              <a:ext uri="{FF2B5EF4-FFF2-40B4-BE49-F238E27FC236}">
                <a16:creationId xmlns:a16="http://schemas.microsoft.com/office/drawing/2014/main" id="{AE7E5D5B-D6A3-7067-AB21-68D72DD32263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398072" y="118685"/>
            <a:ext cx="697928" cy="710183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rgbClr val="002060"/>
            </a:solidFill>
          </a:ln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F5EFC6A8-725C-2C44-3F57-8DE25C2B6CF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775006" y="1491403"/>
            <a:ext cx="1318623" cy="1977935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865DB41C-DC3A-0D44-1BA8-F8D40B0E948D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7185799" y="1487908"/>
            <a:ext cx="1320686" cy="1981029"/>
          </a:xfrm>
          <a:prstGeom prst="rect">
            <a:avLst/>
          </a:prstGeom>
        </p:spPr>
      </p:pic>
      <p:pic>
        <p:nvPicPr>
          <p:cNvPr id="6" name="Picture 5" descr="A person with long black hair wearing a suit&#10;&#10;AI-generated content may be incorrect.">
            <a:extLst>
              <a:ext uri="{FF2B5EF4-FFF2-40B4-BE49-F238E27FC236}">
                <a16:creationId xmlns:a16="http://schemas.microsoft.com/office/drawing/2014/main" id="{A7C44731-42A8-F8A0-65D7-DF711799AA5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76964" y="4285883"/>
            <a:ext cx="1396084" cy="1725487"/>
          </a:xfrm>
          <a:prstGeom prst="rect">
            <a:avLst/>
          </a:prstGeom>
        </p:spPr>
      </p:pic>
      <p:pic>
        <p:nvPicPr>
          <p:cNvPr id="7" name="Picture 6" descr="A person with long black hair wearing a suit&#10;&#10;AI-generated content may be incorrect.">
            <a:extLst>
              <a:ext uri="{FF2B5EF4-FFF2-40B4-BE49-F238E27FC236}">
                <a16:creationId xmlns:a16="http://schemas.microsoft.com/office/drawing/2014/main" id="{88F4FC1B-3EE1-D7D4-8202-7822C3A457C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68435" y="4285880"/>
            <a:ext cx="1396084" cy="172548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D07FA7B0-F55B-8DD9-4723-CA424E811CF3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t="7460" b="-7461"/>
          <a:stretch>
            <a:fillRect/>
          </a:stretch>
        </p:blipFill>
        <p:spPr>
          <a:xfrm>
            <a:off x="4174121" y="4285880"/>
            <a:ext cx="1396084" cy="18646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17AD045-8B02-DAAF-CC3B-AE645E44BB48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6572" t="12978" r="4985" b="3434"/>
          <a:stretch>
            <a:fillRect/>
          </a:stretch>
        </p:blipFill>
        <p:spPr>
          <a:xfrm>
            <a:off x="6271278" y="4285880"/>
            <a:ext cx="1421585" cy="1725487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F7504108-13C3-5690-13D9-BC67CF0639DC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b="7461"/>
          <a:stretch>
            <a:fillRect/>
          </a:stretch>
        </p:blipFill>
        <p:spPr>
          <a:xfrm>
            <a:off x="8338647" y="4285881"/>
            <a:ext cx="1425871" cy="1725486"/>
          </a:xfrm>
          <a:prstGeom prst="rect">
            <a:avLst/>
          </a:prstGeom>
        </p:spPr>
      </p:pic>
      <p:sp>
        <p:nvSpPr>
          <p:cNvPr id="11" name="Footer Placeholder 3">
            <a:extLst>
              <a:ext uri="{FF2B5EF4-FFF2-40B4-BE49-F238E27FC236}">
                <a16:creationId xmlns:a16="http://schemas.microsoft.com/office/drawing/2014/main" id="{10B49B93-ED88-7F81-2B51-78FBE79E7197}"/>
              </a:ext>
            </a:extLst>
          </p:cNvPr>
          <p:cNvSpPr txBox="1">
            <a:spLocks/>
          </p:cNvSpPr>
          <p:nvPr/>
        </p:nvSpPr>
        <p:spPr>
          <a:xfrm>
            <a:off x="922175" y="3525369"/>
            <a:ext cx="5024284" cy="365125"/>
          </a:xfrm>
          <a:prstGeom prst="rect">
            <a:avLst/>
          </a:prstGeom>
        </p:spPr>
        <p:txBody>
          <a:bodyPr/>
          <a:lstStyle>
            <a:defPPr rtl="0">
              <a:defRPr lang="en-GB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base"/>
            <a:r>
              <a:rPr lang="en-US" dirty="0">
                <a:solidFill>
                  <a:prstClr val="black"/>
                </a:solidFill>
                <a:latin typeface="Calibri" panose="020F0502020204030204"/>
              </a:rPr>
              <a:t>Ms. Anjalie Gamage</a:t>
            </a:r>
          </a:p>
          <a:p>
            <a:pPr algn="ctr" fontAlgn="base"/>
            <a:r>
              <a:rPr lang="en-US" dirty="0">
                <a:solidFill>
                  <a:prstClr val="black"/>
                </a:solidFill>
                <a:latin typeface="Calibri" panose="020F0502020204030204"/>
              </a:rPr>
              <a:t>Supervisor</a:t>
            </a:r>
          </a:p>
        </p:txBody>
      </p:sp>
      <p:sp>
        <p:nvSpPr>
          <p:cNvPr id="12" name="Footer Placeholder 3">
            <a:extLst>
              <a:ext uri="{FF2B5EF4-FFF2-40B4-BE49-F238E27FC236}">
                <a16:creationId xmlns:a16="http://schemas.microsoft.com/office/drawing/2014/main" id="{F4943328-C684-5CD8-C332-54D23F0D19BC}"/>
              </a:ext>
            </a:extLst>
          </p:cNvPr>
          <p:cNvSpPr txBox="1">
            <a:spLocks/>
          </p:cNvSpPr>
          <p:nvPr/>
        </p:nvSpPr>
        <p:spPr>
          <a:xfrm>
            <a:off x="5334000" y="3581400"/>
            <a:ext cx="5024284" cy="365125"/>
          </a:xfrm>
          <a:prstGeom prst="rect">
            <a:avLst/>
          </a:prstGeom>
        </p:spPr>
        <p:txBody>
          <a:bodyPr/>
          <a:lstStyle>
            <a:defPPr rtl="0">
              <a:defRPr lang="en-GB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base"/>
            <a:r>
              <a:rPr lang="en-US" dirty="0">
                <a:solidFill>
                  <a:prstClr val="black"/>
                </a:solidFill>
                <a:latin typeface="Calibri" panose="020F0502020204030204"/>
              </a:rPr>
              <a:t>Prof. Samantha Rajapaksha</a:t>
            </a:r>
          </a:p>
          <a:p>
            <a:pPr algn="ctr" fontAlgn="base"/>
            <a:r>
              <a:rPr lang="en-US" dirty="0">
                <a:solidFill>
                  <a:prstClr val="black"/>
                </a:solidFill>
                <a:latin typeface="Calibri" panose="020F0502020204030204"/>
              </a:rPr>
              <a:t>CO-Supervisor</a:t>
            </a:r>
          </a:p>
        </p:txBody>
      </p:sp>
      <p:sp>
        <p:nvSpPr>
          <p:cNvPr id="13" name="Footer Placeholder 3">
            <a:extLst>
              <a:ext uri="{FF2B5EF4-FFF2-40B4-BE49-F238E27FC236}">
                <a16:creationId xmlns:a16="http://schemas.microsoft.com/office/drawing/2014/main" id="{13989A70-FCA6-D04F-A938-26A4ECFE03F1}"/>
              </a:ext>
            </a:extLst>
          </p:cNvPr>
          <p:cNvSpPr txBox="1">
            <a:spLocks/>
          </p:cNvSpPr>
          <p:nvPr/>
        </p:nvSpPr>
        <p:spPr>
          <a:xfrm>
            <a:off x="2161515" y="6099641"/>
            <a:ext cx="5024284" cy="365125"/>
          </a:xfrm>
          <a:prstGeom prst="rect">
            <a:avLst/>
          </a:prstGeom>
        </p:spPr>
        <p:txBody>
          <a:bodyPr/>
          <a:lstStyle>
            <a:defPPr rtl="0">
              <a:defRPr lang="en-GB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600" b="1" dirty="0" err="1">
                <a:solidFill>
                  <a:prstClr val="black"/>
                </a:solidFill>
                <a:latin typeface="Calibri" panose="020F0502020204030204"/>
              </a:rPr>
              <a:t>Shangeetha</a:t>
            </a:r>
            <a:r>
              <a:rPr lang="en-US" sz="1600" b="1" dirty="0">
                <a:solidFill>
                  <a:prstClr val="black"/>
                </a:solidFill>
                <a:latin typeface="Calibri" panose="020F0502020204030204"/>
              </a:rPr>
              <a:t> J</a:t>
            </a:r>
          </a:p>
        </p:txBody>
      </p:sp>
      <p:sp>
        <p:nvSpPr>
          <p:cNvPr id="14" name="Footer Placeholder 3">
            <a:extLst>
              <a:ext uri="{FF2B5EF4-FFF2-40B4-BE49-F238E27FC236}">
                <a16:creationId xmlns:a16="http://schemas.microsoft.com/office/drawing/2014/main" id="{B8C2B511-826C-93AA-8F2E-2F0E38CFD807}"/>
              </a:ext>
            </a:extLst>
          </p:cNvPr>
          <p:cNvSpPr txBox="1">
            <a:spLocks/>
          </p:cNvSpPr>
          <p:nvPr/>
        </p:nvSpPr>
        <p:spPr>
          <a:xfrm>
            <a:off x="6372103" y="6109616"/>
            <a:ext cx="5024284" cy="365125"/>
          </a:xfrm>
          <a:prstGeom prst="rect">
            <a:avLst/>
          </a:prstGeom>
        </p:spPr>
        <p:txBody>
          <a:bodyPr/>
          <a:lstStyle>
            <a:defPPr rtl="0">
              <a:defRPr lang="en-GB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600" b="1" dirty="0" err="1">
                <a:solidFill>
                  <a:prstClr val="black"/>
                </a:solidFill>
                <a:latin typeface="Calibri" panose="020F0502020204030204"/>
              </a:rPr>
              <a:t>Abirajh</a:t>
            </a:r>
            <a:r>
              <a:rPr lang="en-US" sz="1600" b="1" dirty="0">
                <a:solidFill>
                  <a:prstClr val="black"/>
                </a:solidFill>
                <a:latin typeface="Calibri" panose="020F0502020204030204"/>
              </a:rPr>
              <a:t> A</a:t>
            </a:r>
          </a:p>
        </p:txBody>
      </p:sp>
      <p:sp>
        <p:nvSpPr>
          <p:cNvPr id="15" name="Footer Placeholder 3">
            <a:extLst>
              <a:ext uri="{FF2B5EF4-FFF2-40B4-BE49-F238E27FC236}">
                <a16:creationId xmlns:a16="http://schemas.microsoft.com/office/drawing/2014/main" id="{7E6AEC2E-CDA4-5C9C-1784-B861B12E6905}"/>
              </a:ext>
            </a:extLst>
          </p:cNvPr>
          <p:cNvSpPr txBox="1">
            <a:spLocks/>
          </p:cNvSpPr>
          <p:nvPr/>
        </p:nvSpPr>
        <p:spPr>
          <a:xfrm>
            <a:off x="8499558" y="6099640"/>
            <a:ext cx="5024284" cy="365125"/>
          </a:xfrm>
          <a:prstGeom prst="rect">
            <a:avLst/>
          </a:prstGeom>
        </p:spPr>
        <p:txBody>
          <a:bodyPr/>
          <a:lstStyle>
            <a:defPPr rtl="0">
              <a:defRPr lang="en-GB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600" b="1" dirty="0" err="1">
                <a:solidFill>
                  <a:prstClr val="black"/>
                </a:solidFill>
                <a:latin typeface="Calibri" panose="020F0502020204030204"/>
              </a:rPr>
              <a:t>Vishnuyan</a:t>
            </a:r>
            <a:r>
              <a:rPr lang="en-US" sz="1600" b="1" dirty="0">
                <a:solidFill>
                  <a:prstClr val="black"/>
                </a:solidFill>
                <a:latin typeface="Calibri" panose="020F0502020204030204"/>
              </a:rPr>
              <a:t> T</a:t>
            </a:r>
          </a:p>
        </p:txBody>
      </p:sp>
      <p:sp>
        <p:nvSpPr>
          <p:cNvPr id="16" name="Footer Placeholder 3">
            <a:extLst>
              <a:ext uri="{FF2B5EF4-FFF2-40B4-BE49-F238E27FC236}">
                <a16:creationId xmlns:a16="http://schemas.microsoft.com/office/drawing/2014/main" id="{65A73D07-EB54-66E7-A763-B46715530EC6}"/>
              </a:ext>
            </a:extLst>
          </p:cNvPr>
          <p:cNvSpPr txBox="1">
            <a:spLocks/>
          </p:cNvSpPr>
          <p:nvPr/>
        </p:nvSpPr>
        <p:spPr>
          <a:xfrm>
            <a:off x="4174121" y="6109617"/>
            <a:ext cx="5024284" cy="365125"/>
          </a:xfrm>
          <a:prstGeom prst="rect">
            <a:avLst/>
          </a:prstGeom>
        </p:spPr>
        <p:txBody>
          <a:bodyPr/>
          <a:lstStyle>
            <a:defPPr rtl="0">
              <a:defRPr lang="en-GB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600" b="1" dirty="0" err="1">
                <a:solidFill>
                  <a:prstClr val="black"/>
                </a:solidFill>
                <a:latin typeface="Calibri" panose="020F0502020204030204"/>
              </a:rPr>
              <a:t>Thivvijavearl</a:t>
            </a:r>
            <a:r>
              <a:rPr lang="en-US" sz="1600" b="1" dirty="0">
                <a:solidFill>
                  <a:prstClr val="black"/>
                </a:solidFill>
                <a:latin typeface="Calibri" panose="020F0502020204030204"/>
              </a:rPr>
              <a:t> T.S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55F1F5A-6C97-0C8E-2FE9-A61DD19EDBBC}"/>
              </a:ext>
            </a:extLst>
          </p:cNvPr>
          <p:cNvSpPr txBox="1"/>
          <p:nvPr/>
        </p:nvSpPr>
        <p:spPr>
          <a:xfrm>
            <a:off x="4941903" y="779280"/>
            <a:ext cx="1610265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n-GB" sz="4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 (Body)"/>
                <a:ea typeface="ADLaM Display" panose="02010000000000000000" pitchFamily="2" charset="0"/>
                <a:cs typeface="ADLaM Display" panose="02010000000000000000" pitchFamily="2" charset="0"/>
              </a:rPr>
              <a:t>Team</a:t>
            </a:r>
            <a:endParaRPr lang="en-US" sz="4400" b="1" dirty="0">
              <a:latin typeface="Cambria (Body)"/>
            </a:endParaRPr>
          </a:p>
        </p:txBody>
      </p:sp>
    </p:spTree>
    <p:extLst>
      <p:ext uri="{BB962C8B-B14F-4D97-AF65-F5344CB8AC3E}">
        <p14:creationId xmlns:p14="http://schemas.microsoft.com/office/powerpoint/2010/main" val="1459309954"/>
      </p:ext>
    </p:extLst>
  </p:cSld>
  <p:clrMapOvr>
    <a:masterClrMapping/>
  </p:clrMapOvr>
  <p:transition spd="med">
    <p:pull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CD1531-5010-9277-B53A-C45E0E8E3B06}"/>
              </a:ext>
            </a:extLst>
          </p:cNvPr>
          <p:cNvSpPr txBox="1">
            <a:spLocks/>
          </p:cNvSpPr>
          <p:nvPr/>
        </p:nvSpPr>
        <p:spPr>
          <a:xfrm>
            <a:off x="-147484" y="137319"/>
            <a:ext cx="11684000" cy="79216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Adobe Devanagari" pitchFamily="18" charset="0"/>
                <a:ea typeface="+mj-ea"/>
                <a:cs typeface="Adobe Devanagari" pitchFamily="18" charset="0"/>
              </a:defRPr>
            </a:lvl1pPr>
          </a:lstStyle>
          <a:p>
            <a:pPr>
              <a:spcAft>
                <a:spcPts val="600"/>
              </a:spcAft>
            </a:pPr>
            <a:r>
              <a:rPr lang="en-US" b="1" i="0" dirty="0">
                <a:effectLst/>
                <a:latin typeface="+mn-lt"/>
              </a:rPr>
              <a:t>PP2 Feedback Response</a:t>
            </a:r>
          </a:p>
        </p:txBody>
      </p:sp>
      <p:pic>
        <p:nvPicPr>
          <p:cNvPr id="4" name="Image 1">
            <a:extLst>
              <a:ext uri="{FF2B5EF4-FFF2-40B4-BE49-F238E27FC236}">
                <a16:creationId xmlns:a16="http://schemas.microsoft.com/office/drawing/2014/main" id="{5071DA31-E08F-B931-3436-E41D1B7A932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6225" y="1571625"/>
            <a:ext cx="11639550" cy="3714750"/>
          </a:xfrm>
          <a:prstGeom prst="rect">
            <a:avLst/>
          </a:prstGeom>
        </p:spPr>
      </p:pic>
      <p:pic>
        <p:nvPicPr>
          <p:cNvPr id="5" name="Image 3">
            <a:extLst>
              <a:ext uri="{FF2B5EF4-FFF2-40B4-BE49-F238E27FC236}">
                <a16:creationId xmlns:a16="http://schemas.microsoft.com/office/drawing/2014/main" id="{E288BF73-3C6B-DE28-0967-B4C97FE15F1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1975" y="1857375"/>
            <a:ext cx="4438650" cy="790575"/>
          </a:xfrm>
          <a:prstGeom prst="rect">
            <a:avLst/>
          </a:prstGeom>
        </p:spPr>
      </p:pic>
      <p:sp>
        <p:nvSpPr>
          <p:cNvPr id="6" name="Text 3">
            <a:extLst>
              <a:ext uri="{FF2B5EF4-FFF2-40B4-BE49-F238E27FC236}">
                <a16:creationId xmlns:a16="http://schemas.microsoft.com/office/drawing/2014/main" id="{CA62C1CD-89D2-4404-D160-CA79BF610FBE}"/>
              </a:ext>
            </a:extLst>
          </p:cNvPr>
          <p:cNvSpPr/>
          <p:nvPr/>
        </p:nvSpPr>
        <p:spPr>
          <a:xfrm>
            <a:off x="857250" y="2097435"/>
            <a:ext cx="38481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US" sz="1700" b="1" dirty="0">
                <a:solidFill>
                  <a:srgbClr val="2F614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Detailed Comments</a:t>
            </a:r>
            <a:endParaRPr lang="en-US" sz="1700" dirty="0"/>
          </a:p>
        </p:txBody>
      </p:sp>
      <p:pic>
        <p:nvPicPr>
          <p:cNvPr id="7" name="Image 4">
            <a:extLst>
              <a:ext uri="{FF2B5EF4-FFF2-40B4-BE49-F238E27FC236}">
                <a16:creationId xmlns:a16="http://schemas.microsoft.com/office/drawing/2014/main" id="{98FF3114-91A0-7CE2-55DD-EFF143F0E68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81575" y="1857375"/>
            <a:ext cx="6648450" cy="790575"/>
          </a:xfrm>
          <a:prstGeom prst="rect">
            <a:avLst/>
          </a:prstGeom>
        </p:spPr>
      </p:pic>
      <p:sp>
        <p:nvSpPr>
          <p:cNvPr id="8" name="Text 4">
            <a:extLst>
              <a:ext uri="{FF2B5EF4-FFF2-40B4-BE49-F238E27FC236}">
                <a16:creationId xmlns:a16="http://schemas.microsoft.com/office/drawing/2014/main" id="{F466DA70-E6C0-04B9-5BC9-0A501396545A}"/>
              </a:ext>
            </a:extLst>
          </p:cNvPr>
          <p:cNvSpPr/>
          <p:nvPr/>
        </p:nvSpPr>
        <p:spPr>
          <a:xfrm>
            <a:off x="5276850" y="2097435"/>
            <a:ext cx="60579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US" sz="1700" b="1" dirty="0">
                <a:solidFill>
                  <a:srgbClr val="FFFFFF"/>
                </a:solidFill>
                <a:highlight>
                  <a:srgbClr val="7FBFA0"/>
                </a:highlight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Actions Taken</a:t>
            </a:r>
            <a:endParaRPr lang="en-US" sz="1700" dirty="0"/>
          </a:p>
        </p:txBody>
      </p:sp>
      <p:pic>
        <p:nvPicPr>
          <p:cNvPr id="9" name="Image 5">
            <a:extLst>
              <a:ext uri="{FF2B5EF4-FFF2-40B4-BE49-F238E27FC236}">
                <a16:creationId xmlns:a16="http://schemas.microsoft.com/office/drawing/2014/main" id="{4818AD40-0AC9-2324-B08D-973238B933D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1975" y="2619375"/>
            <a:ext cx="4438650" cy="1162050"/>
          </a:xfrm>
          <a:prstGeom prst="rect">
            <a:avLst/>
          </a:prstGeom>
        </p:spPr>
      </p:pic>
      <p:sp>
        <p:nvSpPr>
          <p:cNvPr id="10" name="Text 5">
            <a:extLst>
              <a:ext uri="{FF2B5EF4-FFF2-40B4-BE49-F238E27FC236}">
                <a16:creationId xmlns:a16="http://schemas.microsoft.com/office/drawing/2014/main" id="{3B3E52E5-125F-9DBD-10DD-72D5368256D6}"/>
              </a:ext>
            </a:extLst>
          </p:cNvPr>
          <p:cNvSpPr/>
          <p:nvPr/>
        </p:nvSpPr>
        <p:spPr>
          <a:xfrm>
            <a:off x="857250" y="2916585"/>
            <a:ext cx="3848100" cy="5628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US" sz="1200" b="1" dirty="0">
                <a:latin typeface="Cambria (Body)"/>
                <a:ea typeface="Segoe UI" pitchFamily="34" charset="-122"/>
                <a:cs typeface="Segoe UI" pitchFamily="34" charset="-120"/>
              </a:rPr>
              <a:t>Improve accuracy of lower wear suggestions</a:t>
            </a:r>
          </a:p>
          <a:p>
            <a:r>
              <a:rPr lang="en-US" sz="1200" b="1" dirty="0">
                <a:latin typeface="Cambria (Body)"/>
              </a:rPr>
              <a:t>Improve recommendations based on skin tone and styling</a:t>
            </a:r>
          </a:p>
          <a:p>
            <a:r>
              <a:rPr lang="en-US" sz="1200" b="1" dirty="0">
                <a:latin typeface="Cambria (Body)"/>
                <a:ea typeface="Segoe UI" pitchFamily="34" charset="-122"/>
                <a:cs typeface="Segoe UI" pitchFamily="34" charset="-120"/>
              </a:rPr>
              <a:t> Improve image-based feature detection</a:t>
            </a:r>
          </a:p>
          <a:p>
            <a:pPr marL="0" indent="0" algn="l">
              <a:buNone/>
            </a:pPr>
            <a:endParaRPr lang="en-US" sz="1200" b="1" dirty="0">
              <a:latin typeface="Cambria (Body)"/>
              <a:ea typeface="Segoe UI" pitchFamily="34" charset="-122"/>
              <a:cs typeface="Segoe UI" pitchFamily="34" charset="-120"/>
            </a:endParaRPr>
          </a:p>
          <a:p>
            <a:pPr marL="0" indent="0" algn="l">
              <a:buNone/>
            </a:pPr>
            <a:endParaRPr lang="en-US" sz="1200" b="1" dirty="0">
              <a:latin typeface="Cambria (Body)"/>
            </a:endParaRPr>
          </a:p>
        </p:txBody>
      </p:sp>
      <p:pic>
        <p:nvPicPr>
          <p:cNvPr id="12" name="Image 6">
            <a:extLst>
              <a:ext uri="{FF2B5EF4-FFF2-40B4-BE49-F238E27FC236}">
                <a16:creationId xmlns:a16="http://schemas.microsoft.com/office/drawing/2014/main" id="{3BBE5149-C9E9-AC32-F167-ACFF84AB06B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81575" y="2619375"/>
            <a:ext cx="6648450" cy="1162050"/>
          </a:xfrm>
          <a:prstGeom prst="rect">
            <a:avLst/>
          </a:prstGeom>
        </p:spPr>
      </p:pic>
      <p:sp>
        <p:nvSpPr>
          <p:cNvPr id="13" name="Text 6">
            <a:extLst>
              <a:ext uri="{FF2B5EF4-FFF2-40B4-BE49-F238E27FC236}">
                <a16:creationId xmlns:a16="http://schemas.microsoft.com/office/drawing/2014/main" id="{3D95B9E6-3EBC-CAD7-7480-79B1628E0CD7}"/>
              </a:ext>
            </a:extLst>
          </p:cNvPr>
          <p:cNvSpPr/>
          <p:nvPr/>
        </p:nvSpPr>
        <p:spPr>
          <a:xfrm>
            <a:off x="5276850" y="2916585"/>
            <a:ext cx="6057900" cy="5628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200" b="1" dirty="0"/>
              <a:t>Enhanced recommendation model using better dataset labeling and feature extraction across clothing categories.</a:t>
            </a:r>
          </a:p>
          <a:p>
            <a:r>
              <a:rPr lang="en-US" sz="1200" b="1" dirty="0"/>
              <a:t>Integrated skin tone analysis with outfit matching logic for better personalization.</a:t>
            </a:r>
          </a:p>
          <a:p>
            <a:r>
              <a:rPr lang="en-US" sz="1200" b="1" dirty="0"/>
              <a:t>Optimized image processing techniques for better extraction of body features and visual attributes.</a:t>
            </a:r>
            <a:endParaRPr lang="en-US" sz="1200" b="1" dirty="0">
              <a:latin typeface="Cambria (Body)"/>
            </a:endParaRPr>
          </a:p>
        </p:txBody>
      </p:sp>
      <p:pic>
        <p:nvPicPr>
          <p:cNvPr id="14" name="Image 7">
            <a:extLst>
              <a:ext uri="{FF2B5EF4-FFF2-40B4-BE49-F238E27FC236}">
                <a16:creationId xmlns:a16="http://schemas.microsoft.com/office/drawing/2014/main" id="{30AABA90-115D-BF52-7F77-5332F3A549F1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61975" y="3752850"/>
            <a:ext cx="4438650" cy="1152525"/>
          </a:xfrm>
          <a:prstGeom prst="rect">
            <a:avLst/>
          </a:prstGeom>
        </p:spPr>
      </p:pic>
      <p:sp>
        <p:nvSpPr>
          <p:cNvPr id="15" name="Text 7">
            <a:extLst>
              <a:ext uri="{FF2B5EF4-FFF2-40B4-BE49-F238E27FC236}">
                <a16:creationId xmlns:a16="http://schemas.microsoft.com/office/drawing/2014/main" id="{55656A7D-D1B0-97BA-3D3D-7676F4873F1A}"/>
              </a:ext>
            </a:extLst>
          </p:cNvPr>
          <p:cNvSpPr/>
          <p:nvPr/>
        </p:nvSpPr>
        <p:spPr>
          <a:xfrm>
            <a:off x="857250" y="4050953"/>
            <a:ext cx="3848100" cy="5533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200" b="1" dirty="0"/>
              <a:t>Improve output accuracy based on prompts</a:t>
            </a:r>
          </a:p>
          <a:p>
            <a:endParaRPr lang="en-US" sz="1200" b="1" dirty="0"/>
          </a:p>
          <a:p>
            <a:r>
              <a:rPr lang="en-US" sz="1200" b="1" dirty="0"/>
              <a:t>Suggest accessories (e.g., necklaces) based on outfit</a:t>
            </a:r>
          </a:p>
          <a:p>
            <a:endParaRPr lang="en-US" sz="1200" b="1" dirty="0"/>
          </a:p>
          <a:p>
            <a:r>
              <a:rPr lang="en-US" sz="1200" b="1" dirty="0"/>
              <a:t>Validate dataset and system outputs</a:t>
            </a:r>
            <a:endParaRPr lang="en-US" sz="1200" b="1" dirty="0">
              <a:latin typeface="Cambria (Body)"/>
            </a:endParaRPr>
          </a:p>
        </p:txBody>
      </p:sp>
      <p:sp>
        <p:nvSpPr>
          <p:cNvPr id="16" name="Text 8">
            <a:extLst>
              <a:ext uri="{FF2B5EF4-FFF2-40B4-BE49-F238E27FC236}">
                <a16:creationId xmlns:a16="http://schemas.microsoft.com/office/drawing/2014/main" id="{8DC9D695-21DC-2787-BE8E-02E8CB0FB2B6}"/>
              </a:ext>
            </a:extLst>
          </p:cNvPr>
          <p:cNvSpPr/>
          <p:nvPr/>
        </p:nvSpPr>
        <p:spPr>
          <a:xfrm>
            <a:off x="5276850" y="4050953"/>
            <a:ext cx="6057900" cy="5533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endParaRPr lang="en-US" sz="1200" b="1" dirty="0">
              <a:latin typeface="Cambria (Body)"/>
            </a:endParaRPr>
          </a:p>
          <a:p>
            <a:pPr marL="0" indent="0" algn="l">
              <a:buNone/>
            </a:pPr>
            <a:r>
              <a:rPr lang="en-US" sz="1200" b="1" dirty="0">
                <a:latin typeface="Cambria (Body)"/>
              </a:rPr>
              <a:t>Refined prompt processing logic to correctly distinguish between casual, formal, and other styles.</a:t>
            </a:r>
          </a:p>
          <a:p>
            <a:pPr marL="0" indent="0" algn="l">
              <a:buNone/>
            </a:pPr>
            <a:endParaRPr lang="en-US" sz="1200" b="1" dirty="0">
              <a:latin typeface="Cambria (Body)"/>
            </a:endParaRPr>
          </a:p>
          <a:p>
            <a:pPr marL="0" indent="0" algn="l">
              <a:buNone/>
            </a:pPr>
            <a:r>
              <a:rPr lang="en-US" sz="1200" b="1" dirty="0">
                <a:latin typeface="Cambria (Body)"/>
              </a:rPr>
              <a:t>Added accessory recommendation module aligned with wardrobe and outfit context</a:t>
            </a:r>
          </a:p>
          <a:p>
            <a:pPr marL="0" indent="0" algn="l">
              <a:buNone/>
            </a:pPr>
            <a:endParaRPr lang="en-US" sz="1200" b="1" dirty="0">
              <a:latin typeface="Cambria (Body)"/>
            </a:endParaRPr>
          </a:p>
          <a:p>
            <a:pPr marL="0" indent="0" algn="l">
              <a:buNone/>
            </a:pPr>
            <a:r>
              <a:rPr lang="en-US" sz="1200" b="1" dirty="0">
                <a:latin typeface="Cambria (Body)"/>
              </a:rPr>
              <a:t>Updated the dataset. (Now using Kaggle dataset.)</a:t>
            </a:r>
          </a:p>
          <a:p>
            <a:pPr marL="0" indent="0" algn="l">
              <a:buNone/>
            </a:pPr>
            <a:endParaRPr lang="en-US" sz="1200" b="1" dirty="0">
              <a:latin typeface="Cambria (Body)"/>
            </a:endParaRPr>
          </a:p>
        </p:txBody>
      </p:sp>
    </p:spTree>
    <p:extLst>
      <p:ext uri="{BB962C8B-B14F-4D97-AF65-F5344CB8AC3E}">
        <p14:creationId xmlns:p14="http://schemas.microsoft.com/office/powerpoint/2010/main" val="179672635"/>
      </p:ext>
    </p:extLst>
  </p:cSld>
  <p:clrMapOvr>
    <a:masterClrMapping/>
  </p:clrMapOvr>
  <p:transition spd="med">
    <p:pull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C48D58-FC92-75CE-CC30-984DBD5E33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10EE43-9C7B-8A54-5BBC-A34F871C2FBF}"/>
              </a:ext>
            </a:extLst>
          </p:cNvPr>
          <p:cNvSpPr txBox="1">
            <a:spLocks/>
          </p:cNvSpPr>
          <p:nvPr/>
        </p:nvSpPr>
        <p:spPr>
          <a:xfrm>
            <a:off x="-147484" y="137319"/>
            <a:ext cx="11684000" cy="79216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Adobe Devanagari" pitchFamily="18" charset="0"/>
                <a:ea typeface="+mj-ea"/>
                <a:cs typeface="Adobe Devanagari" pitchFamily="18" charset="0"/>
              </a:defRPr>
            </a:lvl1pPr>
          </a:lstStyle>
          <a:p>
            <a:pPr>
              <a:spcAft>
                <a:spcPts val="600"/>
              </a:spcAft>
            </a:pPr>
            <a:r>
              <a:rPr lang="en-US" b="1" i="0" dirty="0">
                <a:effectLst/>
                <a:latin typeface="+mn-lt"/>
              </a:rPr>
              <a:t>Problem Statement</a:t>
            </a:r>
            <a:endParaRPr lang="en-US" kern="1200" dirty="0">
              <a:latin typeface="+mn-lt"/>
              <a:ea typeface="+mj-ea"/>
              <a:cs typeface="Adobe Devanagari" pitchFamily="18" charset="0"/>
            </a:endParaRP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5096FE8D-5921-A20C-4F8E-C17CD00702C9}"/>
              </a:ext>
            </a:extLst>
          </p:cNvPr>
          <p:cNvSpPr txBox="1">
            <a:spLocks/>
          </p:cNvSpPr>
          <p:nvPr/>
        </p:nvSpPr>
        <p:spPr>
          <a:xfrm>
            <a:off x="304800" y="1143000"/>
            <a:ext cx="11684000" cy="5181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Wingdings" pitchFamily="2" charset="2"/>
              <a:buChar char="Ø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Wingdings" pitchFamily="2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600" b="1" dirty="0"/>
              <a:t>Context</a:t>
            </a:r>
          </a:p>
          <a:p>
            <a:pPr marL="0" indent="0">
              <a:buNone/>
            </a:pPr>
            <a:r>
              <a:rPr lang="en-US" sz="1600" dirty="0"/>
              <a:t>Fashion decision-making is a daily challenge for many individuals when selecting suitable clothing for different occasions.</a:t>
            </a:r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r>
              <a:rPr lang="en-US" sz="1600" b="1" dirty="0"/>
              <a:t>Observed issue</a:t>
            </a:r>
          </a:p>
          <a:p>
            <a:r>
              <a:rPr lang="en-US" sz="1600" dirty="0"/>
              <a:t>Difficulty selecting outfits that match body shape and skin tone</a:t>
            </a:r>
          </a:p>
          <a:p>
            <a:r>
              <a:rPr lang="en-US" sz="1600" dirty="0"/>
              <a:t>Lack of guidance for choosing appropriate outfits for events</a:t>
            </a:r>
          </a:p>
          <a:p>
            <a:r>
              <a:rPr lang="en-US" sz="1600" dirty="0"/>
              <a:t>Difficulty selecting matching accessories</a:t>
            </a:r>
          </a:p>
          <a:p>
            <a:r>
              <a:rPr lang="en-US" sz="1600" dirty="0"/>
              <a:t>Inefficient wardrobe planning and clothing organization</a:t>
            </a:r>
          </a:p>
          <a:p>
            <a:endParaRPr lang="en-US" sz="1600" dirty="0"/>
          </a:p>
          <a:p>
            <a:pPr marL="0" indent="0">
              <a:buNone/>
            </a:pPr>
            <a:r>
              <a:rPr lang="en-US" sz="1600" b="1" dirty="0"/>
              <a:t>Why it matters</a:t>
            </a:r>
          </a:p>
          <a:p>
            <a:pPr marL="0" indent="0">
              <a:buNone/>
            </a:pPr>
            <a:r>
              <a:rPr lang="en-US" sz="1600" dirty="0"/>
              <a:t>These issues lead to time-consuming decision making, poor outfit coordination, and inefficient wardrobe usage.</a:t>
            </a:r>
          </a:p>
        </p:txBody>
      </p:sp>
    </p:spTree>
    <p:extLst>
      <p:ext uri="{BB962C8B-B14F-4D97-AF65-F5344CB8AC3E}">
        <p14:creationId xmlns:p14="http://schemas.microsoft.com/office/powerpoint/2010/main" val="3022807822"/>
      </p:ext>
    </p:extLst>
  </p:cSld>
  <p:clrMapOvr>
    <a:masterClrMapping/>
  </p:clrMapOvr>
  <p:transition spd="med">
    <p:pull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4379A2-851D-50D7-8620-5A6EDEFAC3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6AA733-57EF-BA72-194D-57F0FE4FD254}"/>
              </a:ext>
            </a:extLst>
          </p:cNvPr>
          <p:cNvSpPr txBox="1">
            <a:spLocks/>
          </p:cNvSpPr>
          <p:nvPr/>
        </p:nvSpPr>
        <p:spPr>
          <a:xfrm>
            <a:off x="-147484" y="137319"/>
            <a:ext cx="11684000" cy="79216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Adobe Devanagari" pitchFamily="18" charset="0"/>
                <a:ea typeface="+mj-ea"/>
                <a:cs typeface="Adobe Devanagari" pitchFamily="18" charset="0"/>
              </a:defRPr>
            </a:lvl1pPr>
          </a:lstStyle>
          <a:p>
            <a:pPr>
              <a:spcAft>
                <a:spcPts val="600"/>
              </a:spcAft>
            </a:pPr>
            <a:r>
              <a:rPr lang="en-US" b="1" i="0" dirty="0">
                <a:effectLst/>
                <a:latin typeface="+mn-lt"/>
              </a:rPr>
              <a:t>Design Excellence Over Existing Solutions</a:t>
            </a:r>
            <a:endParaRPr lang="en-US" kern="1200" dirty="0">
              <a:latin typeface="+mn-lt"/>
              <a:ea typeface="+mj-ea"/>
              <a:cs typeface="Adobe Devanagari" pitchFamily="18" charset="0"/>
            </a:endParaRP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0CB0CC89-9DDA-C6C1-4AD0-E7321B01E7EC}"/>
              </a:ext>
            </a:extLst>
          </p:cNvPr>
          <p:cNvSpPr txBox="1">
            <a:spLocks/>
          </p:cNvSpPr>
          <p:nvPr/>
        </p:nvSpPr>
        <p:spPr>
          <a:xfrm>
            <a:off x="254000" y="929481"/>
            <a:ext cx="11684000" cy="5181600"/>
          </a:xfrm>
          <a:prstGeom prst="rect">
            <a:avLst/>
          </a:prstGeom>
        </p:spPr>
        <p:txBody>
          <a:bodyPr vert="horz" lIns="91440" tIns="45720" rIns="91440" bIns="45720" rtlCol="0">
            <a:normAutofit fontScale="25000" lnSpcReduction="20000"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Wingdings" pitchFamily="2" charset="2"/>
              <a:buChar char="Ø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Wingdings" pitchFamily="2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sz="6400" dirty="0"/>
          </a:p>
          <a:p>
            <a:pPr marL="342900" marR="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5600" kern="100" dirty="0">
                <a:effectLst/>
                <a:latin typeface="Cambria (Body)"/>
                <a:ea typeface="Aptos" panose="020B0004020202020204" pitchFamily="34" charset="0"/>
                <a:cs typeface="Times New Roman" panose="02020603050405020304" pitchFamily="18" charset="0"/>
              </a:rPr>
              <a:t>Combines Computer Vision + AI Recommendation System</a:t>
            </a:r>
          </a:p>
          <a:p>
            <a:pPr marL="342900" marR="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5600" kern="100" dirty="0">
                <a:effectLst/>
                <a:latin typeface="Cambria (Body)"/>
                <a:ea typeface="Aptos" panose="020B0004020202020204" pitchFamily="34" charset="0"/>
                <a:cs typeface="Times New Roman" panose="02020603050405020304" pitchFamily="18" charset="0"/>
              </a:rPr>
              <a:t>Performs:</a:t>
            </a:r>
          </a:p>
          <a:p>
            <a:pPr marL="742950" marR="0" lvl="1" indent="-285750">
              <a:lnSpc>
                <a:spcPct val="115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sz="5600" kern="100" dirty="0">
                <a:effectLst/>
                <a:latin typeface="Cambria (Body)"/>
                <a:ea typeface="Aptos" panose="020B0004020202020204" pitchFamily="34" charset="0"/>
                <a:cs typeface="Times New Roman" panose="02020603050405020304" pitchFamily="18" charset="0"/>
              </a:rPr>
              <a:t>Body feature detection</a:t>
            </a:r>
          </a:p>
          <a:p>
            <a:pPr marL="742950" marR="0" lvl="1" indent="-285750">
              <a:lnSpc>
                <a:spcPct val="115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sz="5600" kern="100" dirty="0">
                <a:effectLst/>
                <a:latin typeface="Cambria (Body)"/>
                <a:ea typeface="Aptos" panose="020B0004020202020204" pitchFamily="34" charset="0"/>
                <a:cs typeface="Times New Roman" panose="02020603050405020304" pitchFamily="18" charset="0"/>
              </a:rPr>
              <a:t>Skin tone analysis</a:t>
            </a:r>
          </a:p>
          <a:p>
            <a:pPr marL="342900" marR="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5600" kern="100" dirty="0">
                <a:effectLst/>
                <a:latin typeface="Cambria (Body)"/>
                <a:ea typeface="Aptos" panose="020B0004020202020204" pitchFamily="34" charset="0"/>
                <a:cs typeface="Times New Roman" panose="02020603050405020304" pitchFamily="18" charset="0"/>
              </a:rPr>
              <a:t>Generates:</a:t>
            </a:r>
          </a:p>
          <a:p>
            <a:pPr marL="742950" marR="0" lvl="1" indent="-285750">
              <a:lnSpc>
                <a:spcPct val="115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sz="5600" kern="100" dirty="0">
                <a:effectLst/>
                <a:latin typeface="Cambria (Body)"/>
                <a:ea typeface="Aptos" panose="020B0004020202020204" pitchFamily="34" charset="0"/>
                <a:cs typeface="Times New Roman" panose="02020603050405020304" pitchFamily="18" charset="0"/>
              </a:rPr>
              <a:t>Upper wear suggestions</a:t>
            </a:r>
          </a:p>
          <a:p>
            <a:pPr marL="742950" marR="0" lvl="1" indent="-285750">
              <a:lnSpc>
                <a:spcPct val="115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sz="5600" kern="100" dirty="0">
                <a:effectLst/>
                <a:latin typeface="Cambria (Body)"/>
                <a:ea typeface="Aptos" panose="020B0004020202020204" pitchFamily="34" charset="0"/>
                <a:cs typeface="Times New Roman" panose="02020603050405020304" pitchFamily="18" charset="0"/>
              </a:rPr>
              <a:t>Lower wear suggestions</a:t>
            </a:r>
          </a:p>
          <a:p>
            <a:pPr marL="742950" marR="0" lvl="1" indent="-285750">
              <a:lnSpc>
                <a:spcPct val="115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sz="5600" kern="100" dirty="0">
                <a:effectLst/>
                <a:latin typeface="Cambria (Body)"/>
                <a:ea typeface="Aptos" panose="020B0004020202020204" pitchFamily="34" charset="0"/>
                <a:cs typeface="Times New Roman" panose="02020603050405020304" pitchFamily="18" charset="0"/>
              </a:rPr>
              <a:t>Accessory recommendations</a:t>
            </a:r>
          </a:p>
          <a:p>
            <a:pPr marL="342900" marR="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5600" kern="100" dirty="0">
                <a:effectLst/>
                <a:latin typeface="Cambria (Body)"/>
                <a:ea typeface="Aptos" panose="020B0004020202020204" pitchFamily="34" charset="0"/>
                <a:cs typeface="Times New Roman" panose="02020603050405020304" pitchFamily="18" charset="0"/>
              </a:rPr>
              <a:t>Supports prompt-based outfit generation (casual, formal, etc.)</a:t>
            </a:r>
          </a:p>
          <a:p>
            <a:pPr marL="342900" marR="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5600" kern="100" dirty="0">
                <a:effectLst/>
                <a:latin typeface="Cambria (Body)"/>
                <a:ea typeface="Aptos" panose="020B0004020202020204" pitchFamily="34" charset="0"/>
                <a:cs typeface="Times New Roman" panose="02020603050405020304" pitchFamily="18" charset="0"/>
              </a:rPr>
              <a:t>Integrates wardrobe-aware recommendations</a:t>
            </a:r>
          </a:p>
          <a:p>
            <a:pPr marL="342900" marR="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5600" kern="100" dirty="0">
                <a:effectLst/>
                <a:latin typeface="Cambria (Body)"/>
                <a:ea typeface="Aptos" panose="020B0004020202020204" pitchFamily="34" charset="0"/>
                <a:cs typeface="Times New Roman" panose="02020603050405020304" pitchFamily="18" charset="0"/>
              </a:rPr>
              <a:t>Provides end-to-end personalized styling solution</a:t>
            </a:r>
          </a:p>
          <a:p>
            <a:pPr marL="342900" marR="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5600" kern="100" dirty="0">
                <a:effectLst/>
                <a:latin typeface="Cambria (Body)"/>
                <a:ea typeface="Aptos" panose="020B0004020202020204" pitchFamily="34" charset="0"/>
                <a:cs typeface="Times New Roman" panose="02020603050405020304" pitchFamily="18" charset="0"/>
              </a:rPr>
              <a:t>Focuses on:</a:t>
            </a:r>
          </a:p>
          <a:p>
            <a:pPr marL="742950" marR="0" lvl="1" indent="-285750">
              <a:lnSpc>
                <a:spcPct val="115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sz="5600" kern="100" dirty="0">
                <a:effectLst/>
                <a:latin typeface="Cambria (Body)"/>
                <a:ea typeface="Aptos" panose="020B0004020202020204" pitchFamily="34" charset="0"/>
                <a:cs typeface="Times New Roman" panose="02020603050405020304" pitchFamily="18" charset="0"/>
              </a:rPr>
              <a:t>Accuracy</a:t>
            </a:r>
          </a:p>
          <a:p>
            <a:pPr marL="742950" marR="0" lvl="1" indent="-285750">
              <a:lnSpc>
                <a:spcPct val="115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sz="5600" kern="100" dirty="0">
                <a:effectLst/>
                <a:latin typeface="Cambria (Body)"/>
                <a:ea typeface="Aptos" panose="020B0004020202020204" pitchFamily="34" charset="0"/>
                <a:cs typeface="Times New Roman" panose="02020603050405020304" pitchFamily="18" charset="0"/>
              </a:rPr>
              <a:t>Personalization</a:t>
            </a:r>
          </a:p>
          <a:p>
            <a:pPr>
              <a:buNone/>
            </a:pPr>
            <a:r>
              <a:rPr lang="en-US" sz="5600" dirty="0">
                <a:effectLst/>
                <a:latin typeface="Cambria (Body)"/>
                <a:ea typeface="Aptos" panose="020B0004020202020204" pitchFamily="34" charset="0"/>
                <a:cs typeface="Times New Roman" panose="02020603050405020304" pitchFamily="18" charset="0"/>
              </a:rPr>
              <a:t>Real-world usability</a:t>
            </a:r>
            <a:endParaRPr lang="en-US" sz="5600" dirty="0">
              <a:latin typeface="Cambria (Body)"/>
            </a:endParaRPr>
          </a:p>
          <a:p>
            <a:pPr marL="0" indent="0">
              <a:buNone/>
            </a:pP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462558260"/>
      </p:ext>
    </p:extLst>
  </p:cSld>
  <p:clrMapOvr>
    <a:masterClrMapping/>
  </p:clrMapOvr>
  <p:transition spd="med">
    <p:pull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C514DEA3-3E6B-A6A2-2A4C-5E4A333936CA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0" y="6376014"/>
            <a:ext cx="2514600" cy="487680"/>
          </a:xfrm>
          <a:prstGeom prst="rect">
            <a:avLst/>
          </a:prstGeom>
        </p:spPr>
      </p:pic>
      <p:sp>
        <p:nvSpPr>
          <p:cNvPr id="12" name="Title 1">
            <a:extLst>
              <a:ext uri="{FF2B5EF4-FFF2-40B4-BE49-F238E27FC236}">
                <a16:creationId xmlns:a16="http://schemas.microsoft.com/office/drawing/2014/main" id="{2443FDFA-80CE-51D8-8659-E12D09C7A775}"/>
              </a:ext>
            </a:extLst>
          </p:cNvPr>
          <p:cNvSpPr txBox="1">
            <a:spLocks/>
          </p:cNvSpPr>
          <p:nvPr/>
        </p:nvSpPr>
        <p:spPr>
          <a:xfrm>
            <a:off x="1194105" y="1706082"/>
            <a:ext cx="8937522" cy="1097280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40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IT21188886 Shangeetha J</a:t>
            </a:r>
          </a:p>
          <a:p>
            <a:pPr algn="ctr"/>
            <a:r>
              <a:rPr lang="en-GB" sz="5400" dirty="0">
                <a:latin typeface="Amasis MT Pro Black" panose="02040A04050005020304" pitchFamily="18" charset="0"/>
              </a:rPr>
              <a:t> </a:t>
            </a:r>
          </a:p>
          <a:p>
            <a:pPr algn="ctr"/>
            <a:r>
              <a:rPr lang="en-US" sz="2800" dirty="0">
                <a:latin typeface="Times New Roman" panose="02020603050405020304" pitchFamily="18" charset="0"/>
                <a:ea typeface="ADLaM Display" panose="02010000000000000000" pitchFamily="2" charset="0"/>
                <a:cs typeface="Times New Roman" panose="02020603050405020304" pitchFamily="18" charset="0"/>
              </a:rPr>
              <a:t>Body &amp; Skin-Based Fashion Recommendation with Explainable Insights</a:t>
            </a:r>
            <a:endParaRPr lang="en-GB" sz="2800" dirty="0">
              <a:latin typeface="Times New Roman" panose="02020603050405020304" pitchFamily="18" charset="0"/>
              <a:ea typeface="ADLaM Display" panose="02010000000000000000" pitchFamily="2" charset="0"/>
              <a:cs typeface="Times New Roman" panose="02020603050405020304" pitchFamily="18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7181AE6-B201-8E6D-0290-36EF1636A67B}"/>
              </a:ext>
            </a:extLst>
          </p:cNvPr>
          <p:cNvSpPr txBox="1"/>
          <p:nvPr/>
        </p:nvSpPr>
        <p:spPr>
          <a:xfrm>
            <a:off x="1403914" y="5624051"/>
            <a:ext cx="959955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BSc(Hons) Information Technology Specializing in Information Technology </a:t>
            </a:r>
          </a:p>
        </p:txBody>
      </p:sp>
      <p:pic>
        <p:nvPicPr>
          <p:cNvPr id="3" name="Picture 2" descr="A person with long black hair wearing a suit&#10;&#10;AI-generated content may be incorrect.">
            <a:extLst>
              <a:ext uri="{FF2B5EF4-FFF2-40B4-BE49-F238E27FC236}">
                <a16:creationId xmlns:a16="http://schemas.microsoft.com/office/drawing/2014/main" id="{F444D58A-51E1-37DC-8593-DF940E5DEC8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61869" y="103976"/>
            <a:ext cx="1451234" cy="17936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2425379"/>
      </p:ext>
    </p:extLst>
  </p:cSld>
  <p:clrMapOvr>
    <a:masterClrMapping/>
  </p:clrMapOvr>
  <p:transition spd="med">
    <p:pull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9BC6C98C-2679-2DAD-F1AC-C19F00660FDB}"/>
              </a:ext>
            </a:extLst>
          </p:cNvPr>
          <p:cNvSpPr txBox="1">
            <a:spLocks/>
          </p:cNvSpPr>
          <p:nvPr/>
        </p:nvSpPr>
        <p:spPr>
          <a:xfrm>
            <a:off x="304800" y="14514"/>
            <a:ext cx="11684000" cy="79216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Adobe Devanagari" pitchFamily="18" charset="0"/>
                <a:ea typeface="+mj-ea"/>
                <a:cs typeface="Adobe Devanagari" pitchFamily="18" charset="0"/>
              </a:defRPr>
            </a:lvl1pPr>
          </a:lstStyle>
          <a:p>
            <a:pPr>
              <a:spcAft>
                <a:spcPts val="600"/>
              </a:spcAft>
            </a:pPr>
            <a:r>
              <a:rPr lang="en-US" sz="2000" b="1" dirty="0">
                <a:latin typeface="+mn-lt"/>
              </a:rPr>
              <a:t>Body &amp; Skin-Based Fashion Recommendation with Explainable Insights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14B801-593A-42E5-9047-9681E9BE84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0" y="699066"/>
            <a:ext cx="11684000" cy="5549334"/>
          </a:xfrm>
        </p:spPr>
        <p:txBody>
          <a:bodyPr>
            <a:normAutofit fontScale="55000" lnSpcReduction="20000"/>
          </a:bodyPr>
          <a:lstStyle/>
          <a:p>
            <a:r>
              <a:rPr lang="en-US" sz="2900" b="1" dirty="0"/>
              <a:t>Brief Description:</a:t>
            </a:r>
            <a:endParaRPr lang="en-US" sz="2900" dirty="0"/>
          </a:p>
          <a:p>
            <a:pPr lvl="0"/>
            <a:r>
              <a:rPr lang="en-US" sz="2900" dirty="0"/>
              <a:t>Generates outfit recommendations using:</a:t>
            </a:r>
          </a:p>
          <a:p>
            <a:pPr lvl="1"/>
            <a:r>
              <a:rPr lang="en-US" sz="2900" dirty="0"/>
              <a:t>Body shape</a:t>
            </a:r>
          </a:p>
          <a:p>
            <a:pPr lvl="1"/>
            <a:r>
              <a:rPr lang="en-US" sz="2900" dirty="0"/>
              <a:t>Skin tone</a:t>
            </a:r>
          </a:p>
          <a:p>
            <a:pPr lvl="0"/>
            <a:r>
              <a:rPr lang="en-US" sz="2900" dirty="0"/>
              <a:t>Uses </a:t>
            </a:r>
            <a:r>
              <a:rPr lang="en-US" sz="2900" b="1" dirty="0"/>
              <a:t>Explainable AI (XAI)</a:t>
            </a:r>
            <a:r>
              <a:rPr lang="en-US" sz="2900" dirty="0"/>
              <a:t> to provide reasoning behind suggestions.</a:t>
            </a:r>
          </a:p>
          <a:p>
            <a:pPr lvl="0"/>
            <a:endParaRPr lang="en-US" sz="2900" dirty="0"/>
          </a:p>
          <a:p>
            <a:pPr marL="0" indent="0">
              <a:buNone/>
            </a:pPr>
            <a:r>
              <a:rPr lang="en-US" sz="2900" b="1" dirty="0"/>
              <a:t>Key Responsibilities:</a:t>
            </a:r>
            <a:endParaRPr lang="en-US" sz="2900" dirty="0"/>
          </a:p>
          <a:p>
            <a:pPr lvl="0"/>
            <a:r>
              <a:rPr lang="en-US" sz="2900" dirty="0"/>
              <a:t>Analyze user features (body shape + skin tone).</a:t>
            </a:r>
          </a:p>
          <a:p>
            <a:pPr lvl="0"/>
            <a:r>
              <a:rPr lang="en-US" sz="2900" dirty="0"/>
              <a:t>Recommend suitable outfits (upper &amp; lower).</a:t>
            </a:r>
          </a:p>
          <a:p>
            <a:pPr lvl="0"/>
            <a:r>
              <a:rPr lang="en-US" sz="2900" dirty="0"/>
              <a:t>Provide explanations (e.g., color suitability, fit reasoning).</a:t>
            </a:r>
          </a:p>
          <a:p>
            <a:pPr lvl="0"/>
            <a:endParaRPr lang="en-US" sz="2900" dirty="0"/>
          </a:p>
          <a:p>
            <a:pPr marL="0" indent="0">
              <a:buNone/>
            </a:pPr>
            <a:r>
              <a:rPr lang="en-US" sz="2900" b="1" dirty="0"/>
              <a:t>Key Contributions:</a:t>
            </a:r>
            <a:endParaRPr lang="en-US" sz="2900" dirty="0"/>
          </a:p>
          <a:p>
            <a:pPr lvl="0"/>
            <a:r>
              <a:rPr lang="en-US" sz="2900" dirty="0"/>
              <a:t>Improved accuracy of outfit recommendations.</a:t>
            </a:r>
          </a:p>
          <a:p>
            <a:pPr lvl="0"/>
            <a:r>
              <a:rPr lang="en-US" sz="2900" dirty="0"/>
              <a:t>Integrated XAI for transparency and user trust.</a:t>
            </a:r>
          </a:p>
          <a:p>
            <a:pPr lvl="0"/>
            <a:r>
              <a:rPr lang="en-US" sz="2900" dirty="0"/>
              <a:t>Enhanced lower wear selection based on visual features.</a:t>
            </a:r>
          </a:p>
          <a:p>
            <a:pPr lvl="0"/>
            <a:endParaRPr lang="en-US" sz="2900" dirty="0"/>
          </a:p>
          <a:p>
            <a:pPr marL="0" indent="0">
              <a:buNone/>
            </a:pPr>
            <a:r>
              <a:rPr lang="en-US" sz="2900" b="1" dirty="0"/>
              <a:t>Technical Challenge:</a:t>
            </a:r>
            <a:endParaRPr lang="en-US" sz="2900" dirty="0"/>
          </a:p>
          <a:p>
            <a:pPr lvl="0"/>
            <a:r>
              <a:rPr lang="en-US" sz="2900" dirty="0"/>
              <a:t>Extracting accurate skin tone from full-body images caused pixel distortion.</a:t>
            </a:r>
          </a:p>
          <a:p>
            <a:pPr lvl="0"/>
            <a:endParaRPr lang="en-US" sz="2900" dirty="0"/>
          </a:p>
          <a:p>
            <a:pPr marL="0" indent="0">
              <a:buNone/>
            </a:pPr>
            <a:r>
              <a:rPr lang="en-US" sz="2900" b="1" dirty="0"/>
              <a:t>Solution:</a:t>
            </a:r>
            <a:endParaRPr lang="en-US" sz="2900" dirty="0"/>
          </a:p>
          <a:p>
            <a:pPr lvl="0"/>
            <a:r>
              <a:rPr lang="en-US" sz="2900" dirty="0"/>
              <a:t>Optimized image input handling to maintain feature accuracy.</a:t>
            </a:r>
          </a:p>
          <a:p>
            <a:pPr lvl="0"/>
            <a:r>
              <a:rPr lang="en-US" sz="2900" dirty="0"/>
              <a:t>Focused on improving reliability over single-image constraint.</a:t>
            </a:r>
          </a:p>
          <a:p>
            <a:pPr marL="0" indent="0">
              <a:buNone/>
            </a:pPr>
            <a:endParaRPr kumimoji="0" lang="en-US" altLang="en-US" sz="20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81054311"/>
      </p:ext>
    </p:extLst>
  </p:cSld>
  <p:clrMapOvr>
    <a:masterClrMapping/>
  </p:clrMapOvr>
  <p:transition spd="med">
    <p:pull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6676910"/>
            <a:ext cx="12192000" cy="181610"/>
          </a:xfrm>
          <a:custGeom>
            <a:avLst/>
            <a:gdLst/>
            <a:ahLst/>
            <a:cxnLst/>
            <a:rect l="l" t="t" r="r" b="b"/>
            <a:pathLst>
              <a:path w="12192000" h="181609">
                <a:moveTo>
                  <a:pt x="4803267" y="0"/>
                </a:moveTo>
                <a:lnTo>
                  <a:pt x="0" y="181090"/>
                </a:lnTo>
                <a:lnTo>
                  <a:pt x="12192000" y="181090"/>
                </a:lnTo>
                <a:lnTo>
                  <a:pt x="4803267" y="0"/>
                </a:lnTo>
                <a:close/>
              </a:path>
            </a:pathLst>
          </a:custGeom>
          <a:solidFill>
            <a:srgbClr val="FFFFFF">
              <a:alpha val="1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1041908" y="4270375"/>
            <a:ext cx="9092692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lang="en-US" sz="2400" b="1" dirty="0">
                <a:latin typeface="Cambria"/>
                <a:cs typeface="Cambria"/>
              </a:rPr>
              <a:t>Digital wardrobe</a:t>
            </a:r>
            <a:endParaRPr sz="2400" b="1" dirty="0">
              <a:latin typeface="Cambria"/>
              <a:cs typeface="Cambri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041908" y="5367629"/>
            <a:ext cx="10135996" cy="2898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lang="en-US" sz="1800" dirty="0"/>
              <a:t>B.Sc. (Hons) Degree in Information Technology, Specializing in </a:t>
            </a:r>
            <a:r>
              <a:rPr lang="en-US" dirty="0"/>
              <a:t>information Technology</a:t>
            </a:r>
            <a:r>
              <a:rPr lang="en-US" sz="1800" dirty="0"/>
              <a:t>​​</a:t>
            </a:r>
            <a:endParaRPr sz="2000" dirty="0">
              <a:latin typeface="Cambria"/>
              <a:cs typeface="Cambria"/>
            </a:endParaRPr>
          </a:p>
        </p:txBody>
      </p:sp>
      <p:sp>
        <p:nvSpPr>
          <p:cNvPr id="16" name="Title 1">
            <a:extLst>
              <a:ext uri="{FF2B5EF4-FFF2-40B4-BE49-F238E27FC236}">
                <a16:creationId xmlns:a16="http://schemas.microsoft.com/office/drawing/2014/main" id="{EC9285B9-E79A-F8C3-F16D-90AF17D6CC3D}"/>
              </a:ext>
            </a:extLst>
          </p:cNvPr>
          <p:cNvSpPr txBox="1">
            <a:spLocks/>
          </p:cNvSpPr>
          <p:nvPr/>
        </p:nvSpPr>
        <p:spPr>
          <a:xfrm>
            <a:off x="1981200" y="2738002"/>
            <a:ext cx="6477000" cy="817275"/>
          </a:xfrm>
          <a:prstGeom prst="rect">
            <a:avLst/>
          </a:prstGeom>
        </p:spPr>
        <p:txBody>
          <a:bodyPr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IT22</a:t>
            </a:r>
            <a:r>
              <a:rPr lang="en-GB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066848</a:t>
            </a:r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|</a:t>
            </a:r>
            <a:r>
              <a:rPr lang="en-A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ABIRAJH A</a:t>
            </a:r>
            <a:endParaRPr lang="en-US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DBA85C18-7B25-160E-F737-ED449244BDA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130624" y="55090"/>
            <a:ext cx="1912952" cy="2459510"/>
          </a:xfrm>
          <a:prstGeom prst="rect">
            <a:avLst/>
          </a:prstGeom>
        </p:spPr>
      </p:pic>
    </p:spTree>
  </p:cSld>
  <p:clrMapOvr>
    <a:masterClrMapping/>
  </p:clrMapOvr>
  <p:transition spd="med">
    <p:pull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4C597D-701C-043D-959B-C9ACD00676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64801B0D-2BAD-9F91-EA8A-DC29375D05FA}"/>
              </a:ext>
            </a:extLst>
          </p:cNvPr>
          <p:cNvSpPr txBox="1">
            <a:spLocks/>
          </p:cNvSpPr>
          <p:nvPr/>
        </p:nvSpPr>
        <p:spPr>
          <a:xfrm>
            <a:off x="304800" y="14514"/>
            <a:ext cx="11684000" cy="79216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Adobe Devanagari" pitchFamily="18" charset="0"/>
                <a:ea typeface="+mj-ea"/>
                <a:cs typeface="Adobe Devanagari" pitchFamily="18" charset="0"/>
              </a:defRPr>
            </a:lvl1pPr>
          </a:lstStyle>
          <a:p>
            <a:pPr>
              <a:spcAft>
                <a:spcPts val="600"/>
              </a:spcAft>
            </a:pPr>
            <a:r>
              <a:rPr lang="en-US" sz="2000" b="1" dirty="0">
                <a:latin typeface="+mn-lt"/>
              </a:rPr>
              <a:t>Digital Wardrobe 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481079-4E5B-68C7-66FE-F8D1AFBC6A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0" y="699066"/>
            <a:ext cx="11684000" cy="5549334"/>
          </a:xfrm>
        </p:spPr>
        <p:txBody>
          <a:bodyPr>
            <a:normAutofit/>
          </a:bodyPr>
          <a:lstStyle/>
          <a:p>
            <a:pPr marL="0" marR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6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Brief Description:</a:t>
            </a:r>
            <a:endParaRPr lang="en-US" sz="1600" kern="100" dirty="0">
              <a:effectLst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6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Stores and manages user’s clothing items digitally</a:t>
            </a:r>
          </a:p>
          <a:p>
            <a:pPr marL="0" marR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6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Key Responsibilities:</a:t>
            </a:r>
            <a:endParaRPr lang="en-US" sz="1600" kern="100" dirty="0">
              <a:effectLst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6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Upload and categorize wardrobe items</a:t>
            </a:r>
          </a:p>
          <a:p>
            <a:pPr marL="342900" marR="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6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Maintain clothing database</a:t>
            </a:r>
          </a:p>
          <a:p>
            <a:pPr marL="342900" marR="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6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Enable reuse of existing outfits</a:t>
            </a:r>
          </a:p>
          <a:p>
            <a:pPr marL="0" marR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6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Contribution:</a:t>
            </a:r>
            <a:endParaRPr lang="en-US" sz="1600" kern="100" dirty="0">
              <a:effectLst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6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Supports personalized recommendations</a:t>
            </a:r>
          </a:p>
          <a:p>
            <a:pPr marL="342900" marR="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6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Reduces unnecessary clothing suggestions</a:t>
            </a:r>
          </a:p>
          <a:p>
            <a:pPr>
              <a:buNone/>
            </a:pPr>
            <a:r>
              <a:rPr lang="en-US" sz="16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Improves real-world usability of the system</a:t>
            </a:r>
            <a:endParaRPr kumimoji="0" lang="en-US" altLang="en-US" sz="16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9761312"/>
      </p:ext>
    </p:extLst>
  </p:cSld>
  <p:clrMapOvr>
    <a:masterClrMapping/>
  </p:clrMapOvr>
  <p:transition spd="med">
    <p:pull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C2D844-250D-6C9F-F8C5-413B38FB3E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5F14AD7F-9683-AC29-D81D-2AC2AF4AF5B8}"/>
              </a:ext>
            </a:extLst>
          </p:cNvPr>
          <p:cNvSpPr/>
          <p:nvPr/>
        </p:nvSpPr>
        <p:spPr>
          <a:xfrm>
            <a:off x="0" y="6676910"/>
            <a:ext cx="12192000" cy="181610"/>
          </a:xfrm>
          <a:custGeom>
            <a:avLst/>
            <a:gdLst/>
            <a:ahLst/>
            <a:cxnLst/>
            <a:rect l="l" t="t" r="r" b="b"/>
            <a:pathLst>
              <a:path w="12192000" h="181609">
                <a:moveTo>
                  <a:pt x="4803267" y="0"/>
                </a:moveTo>
                <a:lnTo>
                  <a:pt x="0" y="181090"/>
                </a:lnTo>
                <a:lnTo>
                  <a:pt x="12192000" y="181090"/>
                </a:lnTo>
                <a:lnTo>
                  <a:pt x="4803267" y="0"/>
                </a:lnTo>
                <a:close/>
              </a:path>
            </a:pathLst>
          </a:custGeom>
          <a:solidFill>
            <a:srgbClr val="FFFFFF">
              <a:alpha val="1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Title 4">
            <a:extLst>
              <a:ext uri="{FF2B5EF4-FFF2-40B4-BE49-F238E27FC236}">
                <a16:creationId xmlns:a16="http://schemas.microsoft.com/office/drawing/2014/main" id="{793D68D2-EA1E-0C8E-15D6-34F7BF48C4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900516"/>
            <a:ext cx="10515600" cy="1170346"/>
          </a:xfrm>
        </p:spPr>
        <p:txBody>
          <a:bodyPr/>
          <a:lstStyle/>
          <a:p>
            <a:pPr algn="ctr"/>
            <a:r>
              <a:rPr lang="en-US" b="1" dirty="0"/>
              <a:t>      IT22208194 | VISHNUYAN.T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1A936FEA-B854-B2FD-2E11-6A62B220D8F6}"/>
              </a:ext>
            </a:extLst>
          </p:cNvPr>
          <p:cNvSpPr txBox="1">
            <a:spLocks/>
          </p:cNvSpPr>
          <p:nvPr/>
        </p:nvSpPr>
        <p:spPr>
          <a:xfrm>
            <a:off x="914400" y="3781680"/>
            <a:ext cx="10363200" cy="150018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Wingdings" pitchFamily="2" charset="2"/>
              <a:buChar char="Ø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Wingdings" pitchFamily="2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Bef>
                <a:spcPts val="100"/>
              </a:spcBef>
              <a:buNone/>
            </a:pP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Accessory Recommendation &amp; Customization System</a:t>
            </a:r>
          </a:p>
          <a:p>
            <a:pPr marL="12700">
              <a:spcBef>
                <a:spcPts val="100"/>
              </a:spcBef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/>
          </a:p>
        </p:txBody>
      </p:sp>
      <p:sp>
        <p:nvSpPr>
          <p:cNvPr id="7" name="object 5">
            <a:extLst>
              <a:ext uri="{FF2B5EF4-FFF2-40B4-BE49-F238E27FC236}">
                <a16:creationId xmlns:a16="http://schemas.microsoft.com/office/drawing/2014/main" id="{E711AB4D-82AB-4041-480B-A2DF7009DE95}"/>
              </a:ext>
            </a:extLst>
          </p:cNvPr>
          <p:cNvSpPr txBox="1"/>
          <p:nvPr/>
        </p:nvSpPr>
        <p:spPr>
          <a:xfrm>
            <a:off x="1041908" y="5367629"/>
            <a:ext cx="10135996" cy="2898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lang="en-US" sz="1800" dirty="0"/>
              <a:t>B.Sc. (Hons) Degree in Information Technology, Specializing in </a:t>
            </a:r>
            <a:r>
              <a:rPr lang="en-US" dirty="0"/>
              <a:t>information Technology</a:t>
            </a:r>
            <a:r>
              <a:rPr lang="en-US" sz="1800" dirty="0"/>
              <a:t>​​</a:t>
            </a:r>
            <a:endParaRPr sz="2000" dirty="0">
              <a:latin typeface="Cambria"/>
              <a:cs typeface="Cambria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E2C8076E-0A39-A47A-EAC9-1A1462D80F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82200" y="90714"/>
            <a:ext cx="2060627" cy="25849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8746067"/>
      </p:ext>
    </p:extLst>
  </p:cSld>
  <p:clrMapOvr>
    <a:masterClrMapping/>
  </p:clrMapOvr>
  <p:transition spd="med">
    <p:pull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204228-02FE-3C97-AC09-9BCAB17B78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5293B699-810F-4B2D-B42F-AC0E54471BE6}"/>
              </a:ext>
            </a:extLst>
          </p:cNvPr>
          <p:cNvSpPr txBox="1">
            <a:spLocks/>
          </p:cNvSpPr>
          <p:nvPr/>
        </p:nvSpPr>
        <p:spPr>
          <a:xfrm>
            <a:off x="304800" y="14514"/>
            <a:ext cx="11684000" cy="79216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Adobe Devanagari" pitchFamily="18" charset="0"/>
                <a:ea typeface="+mj-ea"/>
                <a:cs typeface="Adobe Devanagari" pitchFamily="18" charset="0"/>
              </a:defRPr>
            </a:lvl1pPr>
          </a:lstStyle>
          <a:p>
            <a:pPr>
              <a:spcAft>
                <a:spcPts val="600"/>
              </a:spcAft>
            </a:pPr>
            <a:r>
              <a:rPr lang="en-US" sz="2000" b="1" dirty="0">
                <a:latin typeface="+mn-lt"/>
              </a:rPr>
              <a:t>Accessory Recommendation &amp; Customization System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9D0935-F207-AD92-370F-CADF443473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0" y="699066"/>
            <a:ext cx="11684000" cy="5549334"/>
          </a:xfrm>
        </p:spPr>
        <p:txBody>
          <a:bodyPr>
            <a:normAutofit/>
          </a:bodyPr>
          <a:lstStyle/>
          <a:p>
            <a:pPr marL="0" marR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6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Brief Description:</a:t>
            </a:r>
            <a:endParaRPr lang="en-US" sz="16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6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Suggest accessories (e.g., necklaces, jewelry)</a:t>
            </a:r>
          </a:p>
          <a:p>
            <a:pPr marL="342900" marR="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6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Based on outfit neckline and styling context</a:t>
            </a:r>
          </a:p>
          <a:p>
            <a:pPr marL="0" marR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6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Key Responsibilities:</a:t>
            </a:r>
            <a:endParaRPr lang="en-US" sz="16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6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Match accessories with outfit type and color</a:t>
            </a:r>
          </a:p>
          <a:p>
            <a:pPr marL="342900" marR="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6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Use wardrobe data for better suggestions</a:t>
            </a:r>
          </a:p>
          <a:p>
            <a:pPr marL="342900" marR="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6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Ensure styling consistency</a:t>
            </a:r>
          </a:p>
          <a:p>
            <a:pPr marL="0" marR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6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Contribution:</a:t>
            </a:r>
            <a:endParaRPr lang="en-US" sz="16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6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Completes the overall look</a:t>
            </a:r>
          </a:p>
          <a:p>
            <a:pPr marL="342900" marR="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6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Enhances personalization and user experience</a:t>
            </a:r>
          </a:p>
          <a:p>
            <a:pPr marL="0" marR="0">
              <a:lnSpc>
                <a:spcPct val="115000"/>
              </a:lnSpc>
              <a:spcAft>
                <a:spcPts val="800"/>
              </a:spcAft>
              <a:buNone/>
            </a:pPr>
            <a:endParaRPr kumimoji="0" lang="en-US" altLang="en-US" sz="16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00829892"/>
      </p:ext>
    </p:extLst>
  </p:cSld>
  <p:clrMapOvr>
    <a:masterClrMapping/>
  </p:clrMapOvr>
  <p:transition spd="med">
    <p:pull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97971E-851B-301A-BB24-DE6C5EB5DC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0F2D242D-8B79-83EB-28CC-C719A08B15E7}"/>
              </a:ext>
            </a:extLst>
          </p:cNvPr>
          <p:cNvSpPr/>
          <p:nvPr/>
        </p:nvSpPr>
        <p:spPr>
          <a:xfrm>
            <a:off x="0" y="6676910"/>
            <a:ext cx="12192000" cy="181610"/>
          </a:xfrm>
          <a:custGeom>
            <a:avLst/>
            <a:gdLst/>
            <a:ahLst/>
            <a:cxnLst/>
            <a:rect l="l" t="t" r="r" b="b"/>
            <a:pathLst>
              <a:path w="12192000" h="181609">
                <a:moveTo>
                  <a:pt x="4803267" y="0"/>
                </a:moveTo>
                <a:lnTo>
                  <a:pt x="0" y="181090"/>
                </a:lnTo>
                <a:lnTo>
                  <a:pt x="12192000" y="181090"/>
                </a:lnTo>
                <a:lnTo>
                  <a:pt x="4803267" y="0"/>
                </a:lnTo>
                <a:close/>
              </a:path>
            </a:pathLst>
          </a:custGeom>
          <a:solidFill>
            <a:srgbClr val="FFFFFF">
              <a:alpha val="1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Title 4">
            <a:extLst>
              <a:ext uri="{FF2B5EF4-FFF2-40B4-BE49-F238E27FC236}">
                <a16:creationId xmlns:a16="http://schemas.microsoft.com/office/drawing/2014/main" id="{DAE4F88F-F5DA-5A3C-3A9F-9492FF39D5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900516"/>
            <a:ext cx="10515600" cy="1170346"/>
          </a:xfrm>
        </p:spPr>
        <p:txBody>
          <a:bodyPr>
            <a:normAutofit fontScale="90000"/>
          </a:bodyPr>
          <a:lstStyle/>
          <a:p>
            <a:pPr algn="ctr"/>
            <a:r>
              <a:rPr lang="en-US" b="1" dirty="0"/>
              <a:t>IT22269270  |  </a:t>
            </a:r>
            <a:r>
              <a:rPr lang="en-US" b="1" dirty="0" err="1"/>
              <a:t>Thivvijavearl</a:t>
            </a:r>
            <a:r>
              <a:rPr lang="en-US" b="1" dirty="0"/>
              <a:t> T.S</a:t>
            </a:r>
            <a:br>
              <a:rPr lang="en-US" b="1" dirty="0"/>
            </a:br>
            <a:endParaRPr lang="en-US" b="1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25464E26-3B59-F7A3-E3DD-C75FBAD5EABC}"/>
              </a:ext>
            </a:extLst>
          </p:cNvPr>
          <p:cNvSpPr txBox="1">
            <a:spLocks/>
          </p:cNvSpPr>
          <p:nvPr/>
        </p:nvSpPr>
        <p:spPr>
          <a:xfrm>
            <a:off x="914400" y="3781680"/>
            <a:ext cx="10363200" cy="150018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Wingdings" pitchFamily="2" charset="2"/>
              <a:buChar char="Ø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Wingdings" pitchFamily="2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Bef>
                <a:spcPts val="100"/>
              </a:spcBef>
              <a:buNone/>
            </a:pP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Event Theme Based Outfit Matching</a:t>
            </a:r>
          </a:p>
        </p:txBody>
      </p:sp>
      <p:sp>
        <p:nvSpPr>
          <p:cNvPr id="7" name="object 5">
            <a:extLst>
              <a:ext uri="{FF2B5EF4-FFF2-40B4-BE49-F238E27FC236}">
                <a16:creationId xmlns:a16="http://schemas.microsoft.com/office/drawing/2014/main" id="{CC4ADF16-1B19-1ED3-DAF6-AA95247281C4}"/>
              </a:ext>
            </a:extLst>
          </p:cNvPr>
          <p:cNvSpPr txBox="1"/>
          <p:nvPr/>
        </p:nvSpPr>
        <p:spPr>
          <a:xfrm>
            <a:off x="1041908" y="5367629"/>
            <a:ext cx="10135996" cy="2898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lang="en-US" sz="1800" dirty="0"/>
              <a:t>B.Sc. (Hons) Degree in Information Technology, Specializing in </a:t>
            </a:r>
            <a:r>
              <a:rPr lang="en-US" dirty="0"/>
              <a:t>information Technology</a:t>
            </a:r>
            <a:r>
              <a:rPr lang="en-US" sz="1800" dirty="0"/>
              <a:t>​​</a:t>
            </a:r>
            <a:endParaRPr sz="2000" dirty="0">
              <a:latin typeface="Cambria"/>
              <a:cs typeface="Cambria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5D280E3-2B53-FBE9-4F4A-728A00BCCE0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998"/>
          <a:stretch>
            <a:fillRect/>
          </a:stretch>
        </p:blipFill>
        <p:spPr>
          <a:xfrm>
            <a:off x="9982200" y="135098"/>
            <a:ext cx="2053277" cy="23248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8001590"/>
      </p:ext>
    </p:extLst>
  </p:cSld>
  <p:clrMapOvr>
    <a:masterClrMapping/>
  </p:clrMapOvr>
  <p:transition spd="med">
    <p:pull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C0F51F-F30E-A2BA-9A4F-3DF5D36C60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35BBAFE9-F751-E147-1B90-4E9DD5C51C57}"/>
              </a:ext>
            </a:extLst>
          </p:cNvPr>
          <p:cNvSpPr txBox="1">
            <a:spLocks/>
          </p:cNvSpPr>
          <p:nvPr/>
        </p:nvSpPr>
        <p:spPr>
          <a:xfrm>
            <a:off x="304800" y="14514"/>
            <a:ext cx="11684000" cy="79216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Adobe Devanagari" pitchFamily="18" charset="0"/>
                <a:ea typeface="+mj-ea"/>
                <a:cs typeface="Adobe Devanagari" pitchFamily="18" charset="0"/>
              </a:defRPr>
            </a:lvl1pPr>
          </a:lstStyle>
          <a:p>
            <a:pPr>
              <a:spcAft>
                <a:spcPts val="600"/>
              </a:spcAft>
            </a:pPr>
            <a:r>
              <a:rPr lang="en-US" sz="2000" b="1" dirty="0">
                <a:latin typeface="+mn-lt"/>
              </a:rPr>
              <a:t>Event Theme Based Outfit Matching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D9E170-1090-C232-2DE8-2B59B190FF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0" y="699066"/>
            <a:ext cx="11684000" cy="5549334"/>
          </a:xfrm>
        </p:spPr>
        <p:txBody>
          <a:bodyPr>
            <a:normAutofit lnSpcReduction="10000"/>
          </a:bodyPr>
          <a:lstStyle/>
          <a:p>
            <a:pPr marL="0" marR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6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Brief Description:</a:t>
            </a:r>
            <a:endParaRPr lang="en-US" sz="1600" kern="100" dirty="0">
              <a:effectLst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6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Analyzes event decoration images to extract dominant colors and recommend suitable outfits based on event theme and occasion.</a:t>
            </a:r>
          </a:p>
          <a:p>
            <a:pPr marL="0" marR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6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Key Responsibilities:</a:t>
            </a:r>
            <a:endParaRPr lang="en-US" sz="1600" kern="100" dirty="0">
              <a:effectLst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6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Accept and process event decoration image uploads </a:t>
            </a:r>
          </a:p>
          <a:p>
            <a:pPr marL="342900" marR="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6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Extract dominant colors using computer vision techniques </a:t>
            </a:r>
          </a:p>
          <a:p>
            <a:pPr marL="342900" marR="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6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Apply color theory rules for color matching </a:t>
            </a:r>
          </a:p>
          <a:p>
            <a:pPr marL="342900" marR="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6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Incorporate occasion-based filtering (wedding, party, corporate, etc.) </a:t>
            </a:r>
          </a:p>
          <a:p>
            <a:pPr marL="342900" marR="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6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Generate outfit recommendations for men and women </a:t>
            </a:r>
          </a:p>
          <a:p>
            <a:pPr marL="0" marR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6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Contribution:</a:t>
            </a:r>
            <a:endParaRPr lang="en-US" sz="1600" kern="100" dirty="0">
              <a:effectLst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6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Introduces environment-aware fashion recommendation </a:t>
            </a:r>
          </a:p>
          <a:p>
            <a:pPr marL="342900" marR="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6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Improves visual compatibility between outfit and event theme </a:t>
            </a:r>
          </a:p>
          <a:p>
            <a:pPr marL="342900" marR="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6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Enhances decision-making for users in real-world events </a:t>
            </a:r>
          </a:p>
          <a:p>
            <a:pPr marL="342900" marR="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6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Bridges computer vision with fashion intelligence </a:t>
            </a:r>
          </a:p>
          <a:p>
            <a:pPr marL="0" marR="0">
              <a:lnSpc>
                <a:spcPct val="115000"/>
              </a:lnSpc>
              <a:spcAft>
                <a:spcPts val="800"/>
              </a:spcAft>
              <a:buNone/>
            </a:pPr>
            <a:endParaRPr kumimoji="0" lang="en-US" altLang="en-US" sz="16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20065490"/>
      </p:ext>
    </p:extLst>
  </p:cSld>
  <p:clrMapOvr>
    <a:masterClrMapping/>
  </p:clrMapOvr>
  <p:transition spd="med">
    <p:pull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40EDB0-E7A6-FF82-C089-8CB50F6E80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5D935741-2C8B-FA69-D113-606F71840DC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219200" y="824815"/>
            <a:ext cx="9197196" cy="5836215"/>
          </a:xfrm>
          <a:prstGeom prst="rect">
            <a:avLst/>
          </a:prstGeom>
          <a:noFill/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26A85DA-0836-A2FD-6879-40F931CD4EF6}"/>
              </a:ext>
            </a:extLst>
          </p:cNvPr>
          <p:cNvSpPr txBox="1"/>
          <p:nvPr/>
        </p:nvSpPr>
        <p:spPr>
          <a:xfrm>
            <a:off x="304800" y="228600"/>
            <a:ext cx="1127760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4400" b="1" dirty="0"/>
              <a:t>System Architecture &amp; Integration</a:t>
            </a:r>
          </a:p>
        </p:txBody>
      </p:sp>
    </p:spTree>
    <p:extLst>
      <p:ext uri="{BB962C8B-B14F-4D97-AF65-F5344CB8AC3E}">
        <p14:creationId xmlns:p14="http://schemas.microsoft.com/office/powerpoint/2010/main" val="1485330208"/>
      </p:ext>
    </p:extLst>
  </p:cSld>
  <p:clrMapOvr>
    <a:masterClrMapping/>
  </p:clrMapOvr>
  <p:transition spd="med">
    <p:pull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978D7AF4-1EEF-D962-72AA-53878D1DE7BC}"/>
              </a:ext>
            </a:extLst>
          </p:cNvPr>
          <p:cNvSpPr txBox="1"/>
          <p:nvPr/>
        </p:nvSpPr>
        <p:spPr>
          <a:xfrm>
            <a:off x="6085114" y="1143000"/>
            <a:ext cx="5367527" cy="283352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>
              <a:spcBef>
                <a:spcPct val="0"/>
              </a:spcBef>
              <a:spcAft>
                <a:spcPts val="600"/>
              </a:spcAft>
            </a:pPr>
            <a:r>
              <a:rPr lang="en-US" sz="7200" dirty="0">
                <a:latin typeface="+mj-lt"/>
                <a:ea typeface="+mj-ea"/>
                <a:cs typeface="+mj-cs"/>
              </a:rPr>
              <a:t>Q&amp;A</a:t>
            </a:r>
          </a:p>
        </p:txBody>
      </p:sp>
      <p:pic>
        <p:nvPicPr>
          <p:cNvPr id="8" name="Graphic 7" descr="Questions">
            <a:extLst>
              <a:ext uri="{FF2B5EF4-FFF2-40B4-BE49-F238E27FC236}">
                <a16:creationId xmlns:a16="http://schemas.microsoft.com/office/drawing/2014/main" id="{8793C0F0-E12E-63D0-9132-60469ADEDFF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33400" y="1143000"/>
            <a:ext cx="4209625" cy="4209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6296606"/>
      </p:ext>
    </p:extLst>
  </p:cSld>
  <p:clrMapOvr>
    <a:masterClrMapping/>
  </p:clrMapOvr>
  <p:transition spd="med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1360F161-97DF-356B-EAD9-8F7F72918FBA}"/>
              </a:ext>
            </a:extLst>
          </p:cNvPr>
          <p:cNvSpPr txBox="1"/>
          <p:nvPr/>
        </p:nvSpPr>
        <p:spPr>
          <a:xfrm>
            <a:off x="838200" y="1303048"/>
            <a:ext cx="5562600" cy="260789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>
              <a:spcBef>
                <a:spcPct val="0"/>
              </a:spcBef>
              <a:spcAft>
                <a:spcPts val="600"/>
              </a:spcAft>
              <a:buClr>
                <a:schemeClr val="accent1"/>
              </a:buClr>
            </a:pPr>
            <a:r>
              <a:rPr lang="en-US" sz="6600">
                <a:latin typeface="+mj-lt"/>
                <a:ea typeface="+mj-ea"/>
                <a:cs typeface="+mj-cs"/>
              </a:rPr>
              <a:t>THANK YOU</a:t>
            </a:r>
          </a:p>
        </p:txBody>
      </p:sp>
      <p:pic>
        <p:nvPicPr>
          <p:cNvPr id="8" name="Graphic 7" descr="Smiling Face with No Fill">
            <a:extLst>
              <a:ext uri="{FF2B5EF4-FFF2-40B4-BE49-F238E27FC236}">
                <a16:creationId xmlns:a16="http://schemas.microsoft.com/office/drawing/2014/main" id="{9E0DD611-709F-B123-6D79-8C7CF9AC8971}"/>
              </a:ext>
            </a:extLst>
          </p:cNvPr>
          <p:cNvPicPr>
            <a:picLocks noChangeAspect="1"/>
          </p:cNvPicPr>
          <p:nvPr/>
        </p:nvPicPr>
        <p:blipFill>
          <a:blip>
            <a:alphaModFix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629400" y="1044673"/>
            <a:ext cx="4817466" cy="48174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3728096"/>
      </p:ext>
    </p:extLst>
  </p:cSld>
  <p:clrMapOvr>
    <a:masterClrMapping/>
  </p:clrMapOvr>
  <p:transition spd="med">
    <p:pull/>
  </p:transition>
</p:sld>
</file>

<file path=ppt/theme/theme1.xml><?xml version="1.0" encoding="utf-8"?>
<a:theme xmlns:a="http://schemas.openxmlformats.org/drawingml/2006/main" name="Office Theme">
  <a:themeElements>
    <a:clrScheme name="Flow">
      <a:dk1>
        <a:sysClr val="windowText" lastClr="000000"/>
      </a:dk1>
      <a:lt1>
        <a:sysClr val="window" lastClr="FFFFFF"/>
      </a:lt1>
      <a:dk2>
        <a:srgbClr val="04617B"/>
      </a:dk2>
      <a:lt2>
        <a:srgbClr val="DBF5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Office 2">
      <a:majorFont>
        <a:latin typeface="Calibri"/>
        <a:ea typeface=""/>
        <a:cs typeface=""/>
        <a:font script="Jpan" typeface="HGｺﾞｼｯｸM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mbria"/>
        <a:ea typeface=""/>
        <a:cs typeface=""/>
        <a:font script="Jpan" typeface="HG明朝B"/>
        <a:font script="Hang" typeface="맑은 고딕"/>
        <a:font script="Hans" typeface="黑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Apothecary">
      <a:fillStyleLst>
        <a:solidFill>
          <a:schemeClr val="phClr"/>
        </a:solidFill>
        <a:gradFill rotWithShape="1">
          <a:gsLst>
            <a:gs pos="0">
              <a:schemeClr val="phClr">
                <a:tint val="1000"/>
                <a:satMod val="100000"/>
              </a:schemeClr>
            </a:gs>
            <a:gs pos="68000">
              <a:schemeClr val="phClr">
                <a:tint val="77000"/>
                <a:satMod val="100000"/>
              </a:schemeClr>
            </a:gs>
            <a:gs pos="81000">
              <a:schemeClr val="phClr">
                <a:tint val="79000"/>
                <a:satMod val="100000"/>
              </a:schemeClr>
            </a:gs>
            <a:gs pos="86000">
              <a:schemeClr val="phClr">
                <a:tint val="73000"/>
                <a:satMod val="100000"/>
              </a:schemeClr>
            </a:gs>
            <a:gs pos="100000">
              <a:schemeClr val="phClr">
                <a:tint val="35000"/>
                <a:sat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73000"/>
                <a:shade val="100000"/>
                <a:satMod val="150000"/>
              </a:schemeClr>
            </a:gs>
            <a:gs pos="25000">
              <a:schemeClr val="phClr">
                <a:tint val="96000"/>
                <a:shade val="80000"/>
                <a:satMod val="105000"/>
              </a:schemeClr>
            </a:gs>
            <a:gs pos="38000">
              <a:schemeClr val="phClr">
                <a:tint val="96000"/>
                <a:shade val="59000"/>
                <a:satMod val="120000"/>
              </a:schemeClr>
            </a:gs>
            <a:gs pos="55000">
              <a:schemeClr val="phClr">
                <a:tint val="100000"/>
                <a:shade val="57000"/>
                <a:satMod val="120000"/>
              </a:schemeClr>
            </a:gs>
            <a:gs pos="80000">
              <a:schemeClr val="phClr">
                <a:tint val="100000"/>
                <a:shade val="56000"/>
                <a:satMod val="145000"/>
              </a:schemeClr>
            </a:gs>
            <a:gs pos="88000">
              <a:schemeClr val="phClr">
                <a:tint val="100000"/>
                <a:shade val="63000"/>
                <a:satMod val="160000"/>
              </a:schemeClr>
            </a:gs>
            <a:gs pos="100000">
              <a:schemeClr val="phClr">
                <a:tint val="99000"/>
                <a:shade val="100000"/>
                <a:satMod val="155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  <a:scene3d>
            <a:camera prst="orthographicFront">
              <a:rot lat="0" lon="0" rev="0"/>
            </a:camera>
            <a:lightRig rig="glow" dir="tl">
              <a:rot lat="0" lon="0" rev="1800000"/>
            </a:lightRig>
          </a:scene3d>
          <a:sp3d contourW="10160" prstMaterial="dkEdge">
            <a:bevelT w="0" h="0" prst="angle"/>
            <a:contourClr>
              <a:schemeClr val="phClr">
                <a:shade val="30000"/>
                <a:satMod val="150000"/>
              </a:schemeClr>
            </a:contourClr>
          </a:sp3d>
        </a:effectStyle>
        <a:effectStyle>
          <a:effectLst>
            <a:glow rad="50800">
              <a:schemeClr val="phClr">
                <a:tint val="68000"/>
                <a:shade val="93000"/>
                <a:alpha val="37000"/>
                <a:satMod val="250000"/>
              </a:schemeClr>
            </a:glow>
          </a:effectLst>
          <a:scene3d>
            <a:camera prst="orthographicFront">
              <a:rot lat="0" lon="0" rev="0"/>
            </a:camera>
            <a:lightRig rig="glow" dir="t">
              <a:rot lat="0" lon="0" rev="1800000"/>
            </a:lightRig>
          </a:scene3d>
          <a:sp3d contourW="10160" prstMaterial="dkEdge">
            <a:bevelT w="20320" h="19050" prst="angle"/>
            <a:contourClr>
              <a:schemeClr val="phClr">
                <a:shade val="30000"/>
                <a:satMod val="15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1" id="{D08376A6-FCE2-4A8E-BFFF-11B69BD93976}" vid="{0A5F165D-9E14-4628-BA29-A51D7051FDC3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8DC20DB7DB36DD49BC8150064CF95DD9" ma:contentTypeVersion="3" ma:contentTypeDescription="Create a new document." ma:contentTypeScope="" ma:versionID="ccf6c9d1568071c4329e3bd442dd6fe1">
  <xsd:schema xmlns:xsd="http://www.w3.org/2001/XMLSchema" xmlns:xs="http://www.w3.org/2001/XMLSchema" xmlns:p="http://schemas.microsoft.com/office/2006/metadata/properties" xmlns:ns2="b315195e-671e-423b-bef2-4f1205612242" targetNamespace="http://schemas.microsoft.com/office/2006/metadata/properties" ma:root="true" ma:fieldsID="46bb12e2fbe9e946652203aac830fb08" ns2:_="">
    <xsd:import namespace="b315195e-671e-423b-bef2-4f1205612242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315195e-671e-423b-bef2-4f120561224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92502FFD-3593-4B80-BBD8-CDA2C9AF0422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1193E29D-73A5-4686-B152-638478E2F60C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961466AD-4821-4128-9A8B-4FD0E8D54D1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b315195e-671e-423b-bef2-4f1205612242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Circuit</Template>
  <TotalTime>3313</TotalTime>
  <Words>726</Words>
  <Application>Microsoft Office PowerPoint</Application>
  <PresentationFormat>Widescreen</PresentationFormat>
  <Paragraphs>140</Paragraphs>
  <Slides>16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8" baseType="lpstr">
      <vt:lpstr>Adobe Devanagari</vt:lpstr>
      <vt:lpstr>Amasis MT Pro Black</vt:lpstr>
      <vt:lpstr>Aptos</vt:lpstr>
      <vt:lpstr>Arial</vt:lpstr>
      <vt:lpstr>Calibri</vt:lpstr>
      <vt:lpstr>Cambria</vt:lpstr>
      <vt:lpstr>Cambria (Body)</vt:lpstr>
      <vt:lpstr>Courier New</vt:lpstr>
      <vt:lpstr>Symbol</vt:lpstr>
      <vt:lpstr>Times New Roman</vt:lpstr>
      <vt:lpstr>Wingdings</vt:lpstr>
      <vt:lpstr>Office Theme</vt:lpstr>
      <vt:lpstr>StyleMate  AI-Powered Personal Fashion Assistant 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      IT22208194 | VISHNUYAN.T</vt:lpstr>
      <vt:lpstr>PowerPoint Presentation</vt:lpstr>
      <vt:lpstr>IT22269270  |  Thivvijavearl T.S 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 AI-BASED WEB APPLICATION FOR SKIN DISEASE PREDICTION &amp; SUGGESTS SOLUTIONS.</dc:title>
  <dc:creator>VIVUSHAN T it22117700</dc:creator>
  <cp:lastModifiedBy>THIVVIJAVEARL T.S it22269270</cp:lastModifiedBy>
  <cp:revision>40</cp:revision>
  <dcterms:created xsi:type="dcterms:W3CDTF">2025-09-05T09:16:57Z</dcterms:created>
  <dcterms:modified xsi:type="dcterms:W3CDTF">2026-05-04T03:05:07Z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0x0101008DC20DB7DB36DD49BC8150064CF95DD9</vt:lpwstr>
  </property>
</Properties>
</file>