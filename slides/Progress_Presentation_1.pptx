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71" r:id="rId4"/>
  </p:sldMasterIdLst>
  <p:notesMasterIdLst>
    <p:notesMasterId r:id="rId30"/>
  </p:notesMasterIdLst>
  <p:handoutMasterIdLst>
    <p:handoutMasterId r:id="rId31"/>
  </p:handoutMasterIdLst>
  <p:sldIdLst>
    <p:sldId id="256" r:id="rId5"/>
    <p:sldId id="264" r:id="rId6"/>
    <p:sldId id="285" r:id="rId7"/>
    <p:sldId id="282" r:id="rId8"/>
    <p:sldId id="283" r:id="rId9"/>
    <p:sldId id="284" r:id="rId10"/>
    <p:sldId id="280" r:id="rId11"/>
    <p:sldId id="288" r:id="rId12"/>
    <p:sldId id="286" r:id="rId13"/>
    <p:sldId id="289" r:id="rId14"/>
    <p:sldId id="266" r:id="rId15"/>
    <p:sldId id="287" r:id="rId16"/>
    <p:sldId id="294" r:id="rId17"/>
    <p:sldId id="298" r:id="rId18"/>
    <p:sldId id="352" r:id="rId19"/>
    <p:sldId id="350" r:id="rId20"/>
    <p:sldId id="257" r:id="rId21"/>
    <p:sldId id="265" r:id="rId22"/>
    <p:sldId id="263" r:id="rId23"/>
    <p:sldId id="354" r:id="rId24"/>
    <p:sldId id="353" r:id="rId25"/>
    <p:sldId id="303" r:id="rId26"/>
    <p:sldId id="302" r:id="rId27"/>
    <p:sldId id="304" r:id="rId28"/>
    <p:sldId id="34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7A4F4-969D-4F83-9654-2E275441819A}" v="12" dt="2026-01-05T00:19:48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3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r>
              <a:rPr lang="en-GB"/>
              <a:t>Smart Digital Wardrobe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r>
              <a:rPr lang="en-GB" noProof="0"/>
              <a:t>Smart Digital Wardrobe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26/04/2026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A35E962-82CD-7777-AF6E-003952B4DCC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r>
              <a:rPr lang="en-GB" noProof="0"/>
              <a:t>Smart Digital Wardrobe</a:t>
            </a:r>
          </a:p>
        </p:txBody>
      </p:sp>
    </p:spTree>
    <p:extLst>
      <p:ext uri="{BB962C8B-B14F-4D97-AF65-F5344CB8AC3E}">
        <p14:creationId xmlns:p14="http://schemas.microsoft.com/office/powerpoint/2010/main" val="2772334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2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B381677-7FB2-7030-84A6-1F553A19FF3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r>
              <a:rPr lang="en-GB" noProof="0"/>
              <a:t>Smart Digital Wardrobe</a:t>
            </a:r>
          </a:p>
        </p:txBody>
      </p:sp>
    </p:spTree>
    <p:extLst>
      <p:ext uri="{BB962C8B-B14F-4D97-AF65-F5344CB8AC3E}">
        <p14:creationId xmlns:p14="http://schemas.microsoft.com/office/powerpoint/2010/main" val="2063318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C655A-2B81-64BA-AEB5-5BFFE47C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89EB2-E3E0-48EE-C2B9-4B0A37137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6C8A7-C880-4A82-7860-7DD3C2936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65891-CA81-4B2F-09A8-4CF767C0F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3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4EEF503-D250-52CB-4DDB-E35295AC2BA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r>
              <a:rPr lang="en-GB" noProof="0"/>
              <a:t>Smart Digital Wardrobe</a:t>
            </a:r>
          </a:p>
        </p:txBody>
      </p:sp>
    </p:spTree>
    <p:extLst>
      <p:ext uri="{BB962C8B-B14F-4D97-AF65-F5344CB8AC3E}">
        <p14:creationId xmlns:p14="http://schemas.microsoft.com/office/powerpoint/2010/main" val="3182070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D218-6B83-839C-5424-9434B86DD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AC82E-4EF6-8271-9FDF-4A89CD84B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53FDC-0609-EB9C-C889-619F97B6C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B2EAE-6B05-3CF2-BCAB-5531B11EE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4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530358F-BC20-3E0B-DBD4-958344755BF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r>
              <a:rPr lang="en-GB" noProof="0"/>
              <a:t>Smart Digital Wardrobe</a:t>
            </a:r>
          </a:p>
        </p:txBody>
      </p:sp>
    </p:spTree>
    <p:extLst>
      <p:ext uri="{BB962C8B-B14F-4D97-AF65-F5344CB8AC3E}">
        <p14:creationId xmlns:p14="http://schemas.microsoft.com/office/powerpoint/2010/main" val="1621197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C689B-8379-5AA9-002F-6953E854D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3AD6D-9839-BB38-D1DB-798707B16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8DCF9-4659-55FB-FB11-F83E941C5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57C39-01D4-24F7-8D91-DE475D279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5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3E0D933-2C8C-8B7B-923B-7CBF4BA46BC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r>
              <a:rPr lang="en-GB" noProof="0"/>
              <a:t>Smart Digital Wardrobe</a:t>
            </a:r>
          </a:p>
        </p:txBody>
      </p:sp>
    </p:spTree>
    <p:extLst>
      <p:ext uri="{BB962C8B-B14F-4D97-AF65-F5344CB8AC3E}">
        <p14:creationId xmlns:p14="http://schemas.microsoft.com/office/powerpoint/2010/main" val="3454030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573CE-D030-61E9-E8B1-37A836111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C8F31-D943-C3FD-A2AA-07B0EECBF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BCDF2-FD6D-F183-3C84-7032AC078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25ADF-2AB6-CBD3-9C51-9F5301A51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B9BEAE2-E953-BCF2-A5F3-45596AB3541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r>
              <a:rPr lang="en-GB" noProof="0"/>
              <a:t>Smart Digital Wardrobe</a:t>
            </a:r>
          </a:p>
        </p:txBody>
      </p:sp>
    </p:spTree>
    <p:extLst>
      <p:ext uri="{BB962C8B-B14F-4D97-AF65-F5344CB8AC3E}">
        <p14:creationId xmlns:p14="http://schemas.microsoft.com/office/powerpoint/2010/main" val="708600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11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BC8FB3C-8895-A1F3-DF3A-F78B7FA018D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r>
              <a:rPr lang="en-GB" noProof="0"/>
              <a:t>Smart Digital Wardrobe</a:t>
            </a:r>
          </a:p>
        </p:txBody>
      </p:sp>
    </p:spTree>
    <p:extLst>
      <p:ext uri="{BB962C8B-B14F-4D97-AF65-F5344CB8AC3E}">
        <p14:creationId xmlns:p14="http://schemas.microsoft.com/office/powerpoint/2010/main" val="2281875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322F-50ED-4408-5566-8ABAD2B17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8FBCD-0CAC-B7E0-BA85-52FA50961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90F01-4B4A-5000-2C4E-30D56AD1E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4359B-E1B5-6DBA-E838-BE7CD9755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12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5648939-776D-201A-71C3-B34400893F9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r>
              <a:rPr lang="en-GB" noProof="0"/>
              <a:t>Smart Digital Wardrobe</a:t>
            </a:r>
          </a:p>
        </p:txBody>
      </p:sp>
    </p:spTree>
    <p:extLst>
      <p:ext uri="{BB962C8B-B14F-4D97-AF65-F5344CB8AC3E}">
        <p14:creationId xmlns:p14="http://schemas.microsoft.com/office/powerpoint/2010/main" val="1045334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303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081864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2429618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228210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176804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741789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91517726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3965598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59551987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6198923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321465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46804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n-US" noProof="0"/>
              <a:t>Click icon to add SmartArt graphic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71409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4" r:id="rId12"/>
    <p:sldLayoutId id="2147483688" r:id="rId13"/>
    <p:sldLayoutId id="2147483694" r:id="rId14"/>
    <p:sldLayoutId id="2147483673" r:id="rId15"/>
    <p:sldLayoutId id="2147483699" r:id="rId16"/>
    <p:sldLayoutId id="2147483700" r:id="rId17"/>
    <p:sldLayoutId id="2147483679" r:id="rId18"/>
    <p:sldLayoutId id="2147483692" r:id="rId19"/>
    <p:sldLayoutId id="2147483681" r:id="rId20"/>
    <p:sldLayoutId id="2147483696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6D59944C-A097-025B-5E12-F88F2433A0E1}"/>
              </a:ext>
            </a:extLst>
          </p:cNvPr>
          <p:cNvSpPr txBox="1">
            <a:spLocks/>
          </p:cNvSpPr>
          <p:nvPr/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05/01/2026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CF88920-0DA7-919C-6CA8-8986298187E3}"/>
              </a:ext>
            </a:extLst>
          </p:cNvPr>
          <p:cNvSpPr txBox="1">
            <a:spLocks/>
          </p:cNvSpPr>
          <p:nvPr/>
        </p:nvSpPr>
        <p:spPr>
          <a:xfrm>
            <a:off x="3583858" y="6483043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IT21188886 | Shangeetha J | 25-26J-302 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EEABF22-0D14-E311-44FC-F4E84EE9F9F6}"/>
              </a:ext>
            </a:extLst>
          </p:cNvPr>
          <p:cNvSpPr txBox="1">
            <a:spLocks/>
          </p:cNvSpPr>
          <p:nvPr/>
        </p:nvSpPr>
        <p:spPr>
          <a:xfrm>
            <a:off x="10925979" y="6484169"/>
            <a:ext cx="72301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C12960-6E85-460F-B6E3-5B82CB31AF3D}" type="slidenum">
              <a:rPr lang="en-US" sz="1400" smtClean="0"/>
              <a:pPr/>
              <a:t>1</a:t>
            </a:fld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14DEA3-3E6B-A6A2-2A4C-5E4A333936C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443FDFA-80CE-51D8-8659-E12D09C7A775}"/>
              </a:ext>
            </a:extLst>
          </p:cNvPr>
          <p:cNvSpPr txBox="1">
            <a:spLocks/>
          </p:cNvSpPr>
          <p:nvPr/>
        </p:nvSpPr>
        <p:spPr>
          <a:xfrm>
            <a:off x="1194105" y="1706082"/>
            <a:ext cx="8937522" cy="109728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latin typeface="Amasis MT Pro Black" panose="02040A04050005020304" pitchFamily="18" charset="0"/>
              </a:rPr>
              <a:t>IT21188886 Shangeetha J</a:t>
            </a:r>
          </a:p>
          <a:p>
            <a:pPr algn="ctr"/>
            <a:r>
              <a:rPr lang="en-GB" sz="5400" dirty="0">
                <a:latin typeface="Amasis MT Pro Black" panose="02040A04050005020304" pitchFamily="18" charset="0"/>
              </a:rPr>
              <a:t> </a:t>
            </a:r>
          </a:p>
          <a:p>
            <a:pPr algn="ctr"/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81AE6-B201-8E6D-0290-36EF1636A67B}"/>
              </a:ext>
            </a:extLst>
          </p:cNvPr>
          <p:cNvSpPr txBox="1"/>
          <p:nvPr/>
        </p:nvSpPr>
        <p:spPr>
          <a:xfrm>
            <a:off x="1403914" y="5624051"/>
            <a:ext cx="9599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BSc(Hons) Information Technology Specializing in Information Technology </a:t>
            </a:r>
          </a:p>
        </p:txBody>
      </p:sp>
      <p:pic>
        <p:nvPicPr>
          <p:cNvPr id="3" name="Picture 2" descr="A person with long black hair wearing a suit&#10;&#10;AI-generated content may be incorrect.">
            <a:extLst>
              <a:ext uri="{FF2B5EF4-FFF2-40B4-BE49-F238E27FC236}">
                <a16:creationId xmlns:a16="http://schemas.microsoft.com/office/drawing/2014/main" id="{F444D58A-51E1-37DC-8593-DF940E5DE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869" y="103976"/>
            <a:ext cx="1451234" cy="17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3" y="1189831"/>
            <a:ext cx="5111750" cy="553286"/>
          </a:xfrm>
        </p:spPr>
        <p:txBody>
          <a:bodyPr rtlCol="0">
            <a:normAutofit/>
          </a:bodyPr>
          <a:lstStyle/>
          <a:p>
            <a:r>
              <a:rPr lang="en-GB" sz="2000" b="1" dirty="0">
                <a:latin typeface="Amasis MT Pro Black" panose="02040A040500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964" y="1973997"/>
            <a:ext cx="8114178" cy="35517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/>
              <a:t> Online fashion shopping faces high return rates (~30% globally) due to poor fit and color mismatch.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/>
              <a:t>  Users often don’t know their own body type or which colors suit them, leading to dissatisfaction.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/>
              <a:t>  This component: a web-based application that detects body shape + skin </a:t>
            </a:r>
            <a:r>
              <a:rPr lang="en-US" altLang="en-US" dirty="0" err="1"/>
              <a:t>colour</a:t>
            </a:r>
            <a:r>
              <a:rPr lang="en-US" altLang="en-US" dirty="0"/>
              <a:t> and provides personalized outfit recommendations with explainable reasoning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rtl="0"/>
            <a:endParaRPr lang="en-GB" noProof="1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DFA42BC7-D050-E8F7-B792-B842E0E37E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r>
              <a:rPr lang="en-US" sz="1600" b="1" dirty="0">
                <a:solidFill>
                  <a:schemeClr val="tx1"/>
                </a:solidFill>
              </a:rPr>
              <a:t>05/01/2026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C108C37-AFC1-76B5-F525-3115EFB8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3858" y="6483043"/>
            <a:ext cx="5024284" cy="365125"/>
          </a:xfrm>
        </p:spPr>
        <p:txBody>
          <a:bodyPr/>
          <a:lstStyle/>
          <a:p>
            <a:r>
              <a:rPr lang="en-US" sz="1600" b="1" dirty="0"/>
              <a:t>IT21188886 | Shangeetha J | 25-26J-302 </a:t>
            </a:r>
          </a:p>
          <a:p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83A375F1-4521-F5CC-2E4A-F218E086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5979" y="6484169"/>
            <a:ext cx="723014" cy="365125"/>
          </a:xfrm>
        </p:spPr>
        <p:txBody>
          <a:bodyPr/>
          <a:lstStyle/>
          <a:p>
            <a:fld id="{70C12960-6E85-460F-B6E3-5B82CB31AF3D}" type="slidenum">
              <a:rPr lang="en-US" sz="1400" smtClean="0"/>
              <a:t>2</a:t>
            </a:fld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67ED89-7A8E-6006-FD5D-A405C824573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00595C9-FB1F-7576-6885-3A5D8C175D67}"/>
              </a:ext>
            </a:extLst>
          </p:cNvPr>
          <p:cNvSpPr txBox="1">
            <a:spLocks/>
          </p:cNvSpPr>
          <p:nvPr/>
        </p:nvSpPr>
        <p:spPr>
          <a:xfrm>
            <a:off x="72737" y="3516499"/>
            <a:ext cx="8887326" cy="5532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b="1" dirty="0">
              <a:latin typeface="Amasis MT Pro Black" panose="02040A04050005020304" pitchFamily="18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5301F78-3125-5E43-07B0-D2AE66979882}"/>
              </a:ext>
            </a:extLst>
          </p:cNvPr>
          <p:cNvSpPr txBox="1">
            <a:spLocks/>
          </p:cNvSpPr>
          <p:nvPr/>
        </p:nvSpPr>
        <p:spPr>
          <a:xfrm>
            <a:off x="445837" y="4448149"/>
            <a:ext cx="9557251" cy="10015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 noProof="1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C68FEB8-199A-3008-77F1-7FF5A3EDCFCF}"/>
              </a:ext>
            </a:extLst>
          </p:cNvPr>
          <p:cNvSpPr txBox="1">
            <a:spLocks/>
          </p:cNvSpPr>
          <p:nvPr/>
        </p:nvSpPr>
        <p:spPr>
          <a:xfrm>
            <a:off x="2930170" y="88490"/>
            <a:ext cx="5413793" cy="11013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2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EB813-6496-10F3-77E1-52C8C988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46048-B96B-E149-5B04-3266F795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3" y="1189831"/>
            <a:ext cx="5111750" cy="553286"/>
          </a:xfrm>
        </p:spPr>
        <p:txBody>
          <a:bodyPr rtlCol="0">
            <a:normAutofit/>
          </a:bodyPr>
          <a:lstStyle/>
          <a:p>
            <a:r>
              <a:rPr lang="en-GB" sz="2000" b="1" dirty="0">
                <a:latin typeface="Amasis MT Pro Black" panose="02040A04050005020304" pitchFamily="18" charset="0"/>
              </a:rPr>
              <a:t>Research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DDD26-A32A-3739-D72B-AEE36AD0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963" y="1973997"/>
            <a:ext cx="9367009" cy="35539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latin typeface="Arial" panose="020B0604020202020204" pitchFamily="34" charset="0"/>
              </a:rPr>
              <a:t>Existing systems: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Focus on body silhouette only.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Focus on skin tone only.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Provide black-box recommendations with no explanation.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Users lack confidence in recommendations.</a:t>
            </a:r>
          </a:p>
          <a:p>
            <a:pPr rtl="0"/>
            <a:endParaRPr lang="en-GB" noProof="1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6F68208F-4EB5-269A-030C-D62337E3C2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r>
              <a:rPr lang="en-US" sz="1600" b="1" dirty="0">
                <a:solidFill>
                  <a:schemeClr val="tx1"/>
                </a:solidFill>
              </a:rPr>
              <a:t>05/01/2026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76F1C59-93A4-570D-60DD-2FF09CFF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3858" y="6483043"/>
            <a:ext cx="5024284" cy="365125"/>
          </a:xfrm>
        </p:spPr>
        <p:txBody>
          <a:bodyPr/>
          <a:lstStyle/>
          <a:p>
            <a:r>
              <a:rPr lang="en-US" sz="1600" b="1" dirty="0"/>
              <a:t>IT21188886 | Shangeetha J | 25-26J-302 </a:t>
            </a:r>
          </a:p>
          <a:p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FB377E49-0BD7-D097-48AB-D1BB7A59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5979" y="6484169"/>
            <a:ext cx="723014" cy="365125"/>
          </a:xfrm>
        </p:spPr>
        <p:txBody>
          <a:bodyPr/>
          <a:lstStyle/>
          <a:p>
            <a:fld id="{70C12960-6E85-460F-B6E3-5B82CB31AF3D}" type="slidenum">
              <a:rPr lang="en-US" sz="1400" smtClean="0"/>
              <a:t>3</a:t>
            </a:fld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345697-F158-67A9-FA23-24AB713A6B7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8E7B2BE0-4270-E19A-37C9-6703EB696BEC}"/>
              </a:ext>
            </a:extLst>
          </p:cNvPr>
          <p:cNvSpPr txBox="1">
            <a:spLocks/>
          </p:cNvSpPr>
          <p:nvPr/>
        </p:nvSpPr>
        <p:spPr>
          <a:xfrm>
            <a:off x="72737" y="3516499"/>
            <a:ext cx="8887326" cy="5532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b="1" dirty="0">
              <a:latin typeface="Amasis MT Pro Black" panose="02040A04050005020304" pitchFamily="18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1B7D779-4543-54A5-F771-E5054305BADC}"/>
              </a:ext>
            </a:extLst>
          </p:cNvPr>
          <p:cNvSpPr txBox="1">
            <a:spLocks/>
          </p:cNvSpPr>
          <p:nvPr/>
        </p:nvSpPr>
        <p:spPr>
          <a:xfrm>
            <a:off x="445837" y="4448149"/>
            <a:ext cx="9557251" cy="10015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 noProof="1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77EBBA7-DFDC-979B-45F5-BC99DB703DF6}"/>
              </a:ext>
            </a:extLst>
          </p:cNvPr>
          <p:cNvSpPr txBox="1">
            <a:spLocks/>
          </p:cNvSpPr>
          <p:nvPr/>
        </p:nvSpPr>
        <p:spPr>
          <a:xfrm>
            <a:off x="2930170" y="88490"/>
            <a:ext cx="5413793" cy="11013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2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19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6FD6-99BB-BF40-7F3F-DA8B93C81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6723-8C10-A750-F143-D92C96DA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3" y="1189831"/>
            <a:ext cx="5111750" cy="553286"/>
          </a:xfrm>
        </p:spPr>
        <p:txBody>
          <a:bodyPr rtlCol="0">
            <a:normAutofit/>
          </a:bodyPr>
          <a:lstStyle/>
          <a:p>
            <a:r>
              <a:rPr lang="en-GB" sz="2000" b="1" dirty="0">
                <a:latin typeface="Amasis MT Pro Black" panose="02040A04050005020304" pitchFamily="18" charset="0"/>
              </a:rPr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2CF22-0F91-5C7B-E039-B4E240D98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964" y="1973997"/>
            <a:ext cx="8114178" cy="35517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system combines body shape + skin </a:t>
            </a:r>
            <a:r>
              <a:rPr lang="en-US" dirty="0" err="1"/>
              <a:t>colour</a:t>
            </a:r>
            <a:r>
              <a:rPr lang="en-US" dirty="0"/>
              <a:t> for fashion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Lack of Explainable AI layer to justify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Existing datasets are biased towards Western body types and skin tones.</a:t>
            </a:r>
          </a:p>
          <a:p>
            <a:endParaRPr lang="en-US" dirty="0"/>
          </a:p>
          <a:p>
            <a:pPr rtl="0"/>
            <a:endParaRPr lang="en-GB" noProof="1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051316BB-4497-14FD-7441-B4FC95B710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r>
              <a:rPr lang="en-US" sz="1600" b="1" dirty="0">
                <a:solidFill>
                  <a:schemeClr val="tx1"/>
                </a:solidFill>
              </a:rPr>
              <a:t>05/01/2026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714E0E34-A37E-F9B0-C67F-BE40B25A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3858" y="6483043"/>
            <a:ext cx="5024284" cy="365125"/>
          </a:xfrm>
        </p:spPr>
        <p:txBody>
          <a:bodyPr/>
          <a:lstStyle/>
          <a:p>
            <a:r>
              <a:rPr lang="en-US" sz="1600" b="1" dirty="0"/>
              <a:t>IT21188886 | Shangeetha J | 25-26J-302 </a:t>
            </a:r>
          </a:p>
          <a:p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ADA0AAA-2236-FAB0-C7C3-7024CC3B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5979" y="6484169"/>
            <a:ext cx="723014" cy="365125"/>
          </a:xfrm>
        </p:spPr>
        <p:txBody>
          <a:bodyPr/>
          <a:lstStyle/>
          <a:p>
            <a:fld id="{70C12960-6E85-460F-B6E3-5B82CB31AF3D}" type="slidenum">
              <a:rPr lang="en-US" sz="1400" smtClean="0"/>
              <a:t>4</a:t>
            </a:fld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2C3ECA-BE4D-265D-6FF6-7DBE89A4B67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E38E9516-A27F-AE67-D524-D93BB685059D}"/>
              </a:ext>
            </a:extLst>
          </p:cNvPr>
          <p:cNvSpPr txBox="1">
            <a:spLocks/>
          </p:cNvSpPr>
          <p:nvPr/>
        </p:nvSpPr>
        <p:spPr>
          <a:xfrm>
            <a:off x="72737" y="3516499"/>
            <a:ext cx="8887326" cy="5532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b="1" dirty="0">
              <a:latin typeface="Amasis MT Pro Black" panose="02040A04050005020304" pitchFamily="18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888F223-8E32-4124-3486-3696187C05AA}"/>
              </a:ext>
            </a:extLst>
          </p:cNvPr>
          <p:cNvSpPr txBox="1">
            <a:spLocks/>
          </p:cNvSpPr>
          <p:nvPr/>
        </p:nvSpPr>
        <p:spPr>
          <a:xfrm>
            <a:off x="445837" y="4448149"/>
            <a:ext cx="9557251" cy="10015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 noProof="1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1B1C260-15E6-E475-45F5-B8AC0263A1FE}"/>
              </a:ext>
            </a:extLst>
          </p:cNvPr>
          <p:cNvSpPr txBox="1">
            <a:spLocks/>
          </p:cNvSpPr>
          <p:nvPr/>
        </p:nvSpPr>
        <p:spPr>
          <a:xfrm>
            <a:off x="3546270" y="263538"/>
            <a:ext cx="5413793" cy="8601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2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9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EDE4-03F7-DBC2-264A-D0A26EED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7964-AC38-C14A-2C68-17F2C9EB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3" y="1189831"/>
            <a:ext cx="5111750" cy="553286"/>
          </a:xfrm>
        </p:spPr>
        <p:txBody>
          <a:bodyPr rtlCol="0">
            <a:normAutofit/>
          </a:bodyPr>
          <a:lstStyle/>
          <a:p>
            <a:r>
              <a:rPr lang="en-GB" sz="2000" b="1" dirty="0">
                <a:latin typeface="Amasis MT Pro Black" panose="02040A04050005020304" pitchFamily="18" charset="0"/>
              </a:rPr>
              <a:t>Research Question: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C53A-5863-8835-AE88-270B5B605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964" y="1973997"/>
            <a:ext cx="8114178" cy="3551731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dirty="0"/>
            </a:br>
            <a:r>
              <a:rPr lang="en-US" i="1" dirty="0"/>
              <a:t>Can a hybrid AI system combining body shape and skin </a:t>
            </a:r>
            <a:r>
              <a:rPr lang="en-US" i="1" dirty="0" err="1"/>
              <a:t>colour</a:t>
            </a:r>
            <a:r>
              <a:rPr lang="en-US" i="1" dirty="0"/>
              <a:t> analysis provide explainable, personalized fashion recommendations , improving user satisfaction and trust?</a:t>
            </a:r>
            <a:endParaRPr lang="en-US" dirty="0"/>
          </a:p>
          <a:p>
            <a:pPr rtl="0"/>
            <a:endParaRPr lang="en-GB" noProof="1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0222EF6-6A32-2B2F-FA22-7A0F45BF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r>
              <a:rPr lang="en-US" sz="1600" b="1" dirty="0">
                <a:solidFill>
                  <a:schemeClr val="tx1"/>
                </a:solidFill>
              </a:rPr>
              <a:t>05/01/2026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6231826-E724-1307-39EA-2019B65E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3858" y="6483043"/>
            <a:ext cx="5024284" cy="365125"/>
          </a:xfrm>
        </p:spPr>
        <p:txBody>
          <a:bodyPr/>
          <a:lstStyle/>
          <a:p>
            <a:r>
              <a:rPr lang="en-US" sz="1600" b="1" dirty="0"/>
              <a:t>IT21188886 | Shangeetha J | 25-26J-302 </a:t>
            </a:r>
          </a:p>
          <a:p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381A6431-183A-CC57-60EC-58532791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5979" y="6484169"/>
            <a:ext cx="723014" cy="365125"/>
          </a:xfrm>
        </p:spPr>
        <p:txBody>
          <a:bodyPr/>
          <a:lstStyle/>
          <a:p>
            <a:fld id="{70C12960-6E85-460F-B6E3-5B82CB31AF3D}" type="slidenum">
              <a:rPr lang="en-US" sz="1400" smtClean="0"/>
              <a:t>5</a:t>
            </a:fld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440363-E0ED-CE3E-EC97-50BFAADD501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7D6AF97-B8A0-706F-3BDD-95EACD93D343}"/>
              </a:ext>
            </a:extLst>
          </p:cNvPr>
          <p:cNvSpPr txBox="1">
            <a:spLocks/>
          </p:cNvSpPr>
          <p:nvPr/>
        </p:nvSpPr>
        <p:spPr>
          <a:xfrm>
            <a:off x="72737" y="3516499"/>
            <a:ext cx="8887326" cy="5532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b="1" dirty="0">
              <a:latin typeface="Amasis MT Pro Black" panose="02040A04050005020304" pitchFamily="18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C7DA539-094B-5B57-6227-7857FC3BAC42}"/>
              </a:ext>
            </a:extLst>
          </p:cNvPr>
          <p:cNvSpPr txBox="1">
            <a:spLocks/>
          </p:cNvSpPr>
          <p:nvPr/>
        </p:nvSpPr>
        <p:spPr>
          <a:xfrm>
            <a:off x="445837" y="4448149"/>
            <a:ext cx="9557251" cy="10015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 noProof="1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9BC0F6C-0ECD-9FA7-4A27-85DD7F5F6332}"/>
              </a:ext>
            </a:extLst>
          </p:cNvPr>
          <p:cNvSpPr txBox="1">
            <a:spLocks/>
          </p:cNvSpPr>
          <p:nvPr/>
        </p:nvSpPr>
        <p:spPr>
          <a:xfrm>
            <a:off x="3194349" y="127819"/>
            <a:ext cx="5413793" cy="10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9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b="1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47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B50A7-DDA9-573E-D83B-1D255F06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0B27-D08A-44A5-AD35-6AF4D51D4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3" y="1189831"/>
            <a:ext cx="5111750" cy="553286"/>
          </a:xfrm>
        </p:spPr>
        <p:txBody>
          <a:bodyPr rtlCol="0">
            <a:normAutofit/>
          </a:bodyPr>
          <a:lstStyle/>
          <a:p>
            <a:r>
              <a:rPr lang="en-GB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Excellence / Contribution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6E9EEF9F-3721-69F4-4222-4372871F3F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r>
              <a:rPr lang="en-US" sz="1600" b="1" dirty="0">
                <a:solidFill>
                  <a:schemeClr val="tx1"/>
                </a:solidFill>
              </a:rPr>
              <a:t>05/01/2026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C31D243-40A7-B2D1-9937-37C027CB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3858" y="6483043"/>
            <a:ext cx="5024284" cy="365125"/>
          </a:xfrm>
        </p:spPr>
        <p:txBody>
          <a:bodyPr/>
          <a:lstStyle/>
          <a:p>
            <a:r>
              <a:rPr lang="en-US" sz="1600" b="1" dirty="0"/>
              <a:t>IT21188886 | Shangeetha J | 25-26J-302 </a:t>
            </a:r>
          </a:p>
          <a:p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C76ACED6-CFF7-5262-6FAC-D2D911F6C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5979" y="6484169"/>
            <a:ext cx="723014" cy="365125"/>
          </a:xfrm>
        </p:spPr>
        <p:txBody>
          <a:bodyPr/>
          <a:lstStyle/>
          <a:p>
            <a:fld id="{70C12960-6E85-460F-B6E3-5B82CB31AF3D}" type="slidenum">
              <a:rPr lang="en-US" sz="1400" smtClean="0"/>
              <a:t>6</a:t>
            </a:fld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19E3C9-2A02-C3CD-F1D6-8954B0F05F3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83325EA6-6B44-B0AA-DFBE-D029C7ECD637}"/>
              </a:ext>
            </a:extLst>
          </p:cNvPr>
          <p:cNvSpPr txBox="1">
            <a:spLocks/>
          </p:cNvSpPr>
          <p:nvPr/>
        </p:nvSpPr>
        <p:spPr>
          <a:xfrm>
            <a:off x="72737" y="3516499"/>
            <a:ext cx="8887326" cy="5532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b="1" dirty="0">
              <a:latin typeface="Amasis MT Pro Black" panose="02040A04050005020304" pitchFamily="18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60E73A0-4EAB-87D4-F8C6-413794B34E81}"/>
              </a:ext>
            </a:extLst>
          </p:cNvPr>
          <p:cNvSpPr txBox="1">
            <a:spLocks/>
          </p:cNvSpPr>
          <p:nvPr/>
        </p:nvSpPr>
        <p:spPr>
          <a:xfrm>
            <a:off x="445837" y="4448149"/>
            <a:ext cx="9557251" cy="10015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 noProof="1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59A3415-83E5-CC75-E865-CDA6FE0F6170}"/>
              </a:ext>
            </a:extLst>
          </p:cNvPr>
          <p:cNvSpPr txBox="1">
            <a:spLocks/>
          </p:cNvSpPr>
          <p:nvPr/>
        </p:nvSpPr>
        <p:spPr>
          <a:xfrm>
            <a:off x="3389103" y="146678"/>
            <a:ext cx="5413793" cy="10082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9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b="1" dirty="0">
              <a:latin typeface="Amasis MT Pro Black" panose="02040A040500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567600-7839-B1A5-62F0-5FF418FD5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3713" y="2700647"/>
            <a:ext cx="5166992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ML models (CPU-friendly)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models for: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Body Shape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Skin Tone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Outfit Recommendation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API design → scalable</a:t>
            </a:r>
          </a:p>
        </p:txBody>
      </p:sp>
    </p:spTree>
    <p:extLst>
      <p:ext uri="{BB962C8B-B14F-4D97-AF65-F5344CB8AC3E}">
        <p14:creationId xmlns:p14="http://schemas.microsoft.com/office/powerpoint/2010/main" val="4153886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1B75C31-03D7-5391-8CCE-59979EBE1740}"/>
              </a:ext>
            </a:extLst>
          </p:cNvPr>
          <p:cNvSpPr txBox="1">
            <a:spLocks/>
          </p:cNvSpPr>
          <p:nvPr/>
        </p:nvSpPr>
        <p:spPr>
          <a:xfrm>
            <a:off x="128969" y="1113033"/>
            <a:ext cx="10199595" cy="553287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masis MT Pro Black" panose="02040A04050005020304" pitchFamily="18" charset="0"/>
            </a:endParaRP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66332AA-972F-A0DA-69AA-CF76C72A7F50}"/>
              </a:ext>
            </a:extLst>
          </p:cNvPr>
          <p:cNvSpPr txBox="1">
            <a:spLocks/>
          </p:cNvSpPr>
          <p:nvPr/>
        </p:nvSpPr>
        <p:spPr>
          <a:xfrm>
            <a:off x="294981" y="1218095"/>
            <a:ext cx="5433204" cy="3651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>
                <a:latin typeface="Amasis MT Pro Black" panose="02040A04050005020304" pitchFamily="18" charset="0"/>
              </a:rPr>
              <a:t>Technologies USED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83652-E1FD-92D8-01FD-A7D6F7DA3EB4}"/>
              </a:ext>
            </a:extLst>
          </p:cNvPr>
          <p:cNvSpPr txBox="1">
            <a:spLocks/>
          </p:cNvSpPr>
          <p:nvPr/>
        </p:nvSpPr>
        <p:spPr>
          <a:xfrm>
            <a:off x="1125238" y="2247684"/>
            <a:ext cx="8708573" cy="171471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96E141F3-2358-E0A8-6AAD-9FB42CC26E60}"/>
              </a:ext>
            </a:extLst>
          </p:cNvPr>
          <p:cNvSpPr txBox="1">
            <a:spLocks/>
          </p:cNvSpPr>
          <p:nvPr/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05/01/2026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6AEDDF91-7D12-AAA1-2F87-023088DE3C52}"/>
              </a:ext>
            </a:extLst>
          </p:cNvPr>
          <p:cNvSpPr txBox="1">
            <a:spLocks/>
          </p:cNvSpPr>
          <p:nvPr/>
        </p:nvSpPr>
        <p:spPr>
          <a:xfrm>
            <a:off x="3583858" y="6483043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IT21188886 | Shangeetha J | 25-26J-302 </a:t>
            </a:r>
          </a:p>
          <a:p>
            <a:endParaRPr lang="en-US" sz="1600" b="1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1BE1CA5B-C13B-7C56-D5A9-A1F948608504}"/>
              </a:ext>
            </a:extLst>
          </p:cNvPr>
          <p:cNvSpPr txBox="1">
            <a:spLocks/>
          </p:cNvSpPr>
          <p:nvPr/>
        </p:nvSpPr>
        <p:spPr>
          <a:xfrm>
            <a:off x="10925979" y="6484169"/>
            <a:ext cx="72301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C12960-6E85-460F-B6E3-5B82CB31AF3D}" type="slidenum">
              <a:rPr lang="en-US" sz="1400" smtClean="0"/>
              <a:pPr/>
              <a:t>7</a:t>
            </a:fld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351221-2850-E8EE-554A-F4697176B5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435A3623-EB63-E2AA-71CD-9FB93B3DCE00}"/>
              </a:ext>
            </a:extLst>
          </p:cNvPr>
          <p:cNvSpPr txBox="1">
            <a:spLocks/>
          </p:cNvSpPr>
          <p:nvPr/>
        </p:nvSpPr>
        <p:spPr>
          <a:xfrm>
            <a:off x="265327" y="4007823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latin typeface="Amasis MT Pro Black" panose="02040A04050005020304" pitchFamily="18" charset="0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29E124D-60B9-3738-F054-1BD7E98E3F43}"/>
              </a:ext>
            </a:extLst>
          </p:cNvPr>
          <p:cNvSpPr txBox="1">
            <a:spLocks/>
          </p:cNvSpPr>
          <p:nvPr/>
        </p:nvSpPr>
        <p:spPr>
          <a:xfrm>
            <a:off x="1125237" y="4373674"/>
            <a:ext cx="8708573" cy="2119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29560CD-C7B0-F7D3-5BBD-FEFD6D39B5C7}"/>
              </a:ext>
            </a:extLst>
          </p:cNvPr>
          <p:cNvSpPr txBox="1">
            <a:spLocks/>
          </p:cNvSpPr>
          <p:nvPr/>
        </p:nvSpPr>
        <p:spPr>
          <a:xfrm>
            <a:off x="3293964" y="84511"/>
            <a:ext cx="5413793" cy="10277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9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b="1" dirty="0">
              <a:latin typeface="Amasis MT Pro Black" panose="02040A040500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B25DA-E68B-9CF7-F060-D5A932C10E80}"/>
              </a:ext>
            </a:extLst>
          </p:cNvPr>
          <p:cNvSpPr txBox="1"/>
          <p:nvPr/>
        </p:nvSpPr>
        <p:spPr>
          <a:xfrm>
            <a:off x="619991" y="1583220"/>
            <a:ext cx="48762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Computer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b="1" dirty="0" err="1"/>
              <a:t>MediaPipe</a:t>
            </a:r>
            <a:r>
              <a:rPr lang="en-US" b="1" dirty="0"/>
              <a:t> (Pose + Segmentation)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Body landmark detection (shoulders, waist, hips)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to calculate SHR &amp; WHR ratios</a:t>
            </a:r>
          </a:p>
          <a:p>
            <a:pPr>
              <a:buNone/>
            </a:pPr>
            <a:r>
              <a:rPr lang="en-US" b="1" dirty="0"/>
              <a:t>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b="1" dirty="0" err="1"/>
              <a:t>LightGBM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Body shape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Outfit recommendation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Custom CNN (TensorFlow / </a:t>
            </a:r>
            <a:r>
              <a:rPr lang="en-US" b="1" dirty="0" err="1"/>
              <a:t>Keras</a:t>
            </a:r>
            <a:r>
              <a:rPr lang="en-US" b="1" dirty="0"/>
              <a:t>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Skin tone classification from images</a:t>
            </a:r>
          </a:p>
          <a:p>
            <a:pPr>
              <a:buNone/>
            </a:pPr>
            <a:r>
              <a:rPr lang="en-US" b="1" dirty="0"/>
              <a:t>Backend &amp;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b="1" dirty="0" err="1"/>
              <a:t>FastAPI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REST API for ML inference</a:t>
            </a:r>
          </a:p>
          <a:p>
            <a:pPr>
              <a:buNone/>
            </a:pPr>
            <a:r>
              <a:rPr lang="en-US" b="1" dirty="0"/>
              <a:t>Programming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Python 3.10 / 3.12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1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738F-6943-E7DF-A733-640F6323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FA9CBE4-E0F7-17A1-E202-153E85AB5AB6}"/>
              </a:ext>
            </a:extLst>
          </p:cNvPr>
          <p:cNvSpPr txBox="1">
            <a:spLocks/>
          </p:cNvSpPr>
          <p:nvPr/>
        </p:nvSpPr>
        <p:spPr>
          <a:xfrm>
            <a:off x="128969" y="1113033"/>
            <a:ext cx="10199595" cy="553287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>
                <a:latin typeface="Amasis MT Pro Black" panose="02040A04050005020304" pitchFamily="18" charset="0"/>
              </a:rPr>
              <a:t>Application of Specialization-Based Knowledge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A4C1AEA-63D7-D523-92FB-32694D6F7FA7}"/>
              </a:ext>
            </a:extLst>
          </p:cNvPr>
          <p:cNvSpPr txBox="1">
            <a:spLocks/>
          </p:cNvSpPr>
          <p:nvPr/>
        </p:nvSpPr>
        <p:spPr>
          <a:xfrm>
            <a:off x="326398" y="1776771"/>
            <a:ext cx="5433204" cy="3651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ALGORITHMS USED &amp; WHY</a:t>
            </a:r>
            <a:endParaRPr lang="en-GB" sz="1800" b="1" dirty="0">
              <a:latin typeface="Amasis MT Pro Black" panose="02040A04050005020304" pitchFamily="18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7ABF868-BD4A-77F5-6809-4AEE776641F0}"/>
              </a:ext>
            </a:extLst>
          </p:cNvPr>
          <p:cNvSpPr txBox="1">
            <a:spLocks/>
          </p:cNvSpPr>
          <p:nvPr/>
        </p:nvSpPr>
        <p:spPr>
          <a:xfrm>
            <a:off x="1125238" y="2247684"/>
            <a:ext cx="8708573" cy="171471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DD2F6908-64D7-998F-A9C1-4B2F89D4CE47}"/>
              </a:ext>
            </a:extLst>
          </p:cNvPr>
          <p:cNvSpPr txBox="1">
            <a:spLocks/>
          </p:cNvSpPr>
          <p:nvPr/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05/01/2026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D0F8D09B-60AA-E24D-52BD-23F2298FAD40}"/>
              </a:ext>
            </a:extLst>
          </p:cNvPr>
          <p:cNvSpPr txBox="1">
            <a:spLocks/>
          </p:cNvSpPr>
          <p:nvPr/>
        </p:nvSpPr>
        <p:spPr>
          <a:xfrm>
            <a:off x="3583858" y="6483043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IT21188886 | Shangeetha J | 25-26J-302 </a:t>
            </a:r>
          </a:p>
          <a:p>
            <a:endParaRPr lang="en-US" sz="1600" b="1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9E367CA0-9EDF-71A7-16CA-6EE3A1072D3D}"/>
              </a:ext>
            </a:extLst>
          </p:cNvPr>
          <p:cNvSpPr txBox="1">
            <a:spLocks/>
          </p:cNvSpPr>
          <p:nvPr/>
        </p:nvSpPr>
        <p:spPr>
          <a:xfrm>
            <a:off x="10925979" y="6484169"/>
            <a:ext cx="72301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C12960-6E85-460F-B6E3-5B82CB31AF3D}" type="slidenum">
              <a:rPr lang="en-US" sz="1400" smtClean="0"/>
              <a:pPr/>
              <a:t>8</a:t>
            </a:fld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DA3688-1D33-12D9-DF44-95B862212B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A61016C9-3425-75EA-DB85-82EF8450FD33}"/>
              </a:ext>
            </a:extLst>
          </p:cNvPr>
          <p:cNvSpPr txBox="1">
            <a:spLocks/>
          </p:cNvSpPr>
          <p:nvPr/>
        </p:nvSpPr>
        <p:spPr>
          <a:xfrm>
            <a:off x="265327" y="4007823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latin typeface="Amasis MT Pro Black" panose="02040A04050005020304" pitchFamily="18" charset="0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6477F443-2EE9-EECB-B8B5-B3675BDA4F56}"/>
              </a:ext>
            </a:extLst>
          </p:cNvPr>
          <p:cNvSpPr txBox="1">
            <a:spLocks/>
          </p:cNvSpPr>
          <p:nvPr/>
        </p:nvSpPr>
        <p:spPr>
          <a:xfrm>
            <a:off x="740227" y="4390419"/>
            <a:ext cx="8708573" cy="2119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F1983CB-DA02-6A87-F5C0-03506346047B}"/>
              </a:ext>
            </a:extLst>
          </p:cNvPr>
          <p:cNvSpPr txBox="1">
            <a:spLocks/>
          </p:cNvSpPr>
          <p:nvPr/>
        </p:nvSpPr>
        <p:spPr>
          <a:xfrm>
            <a:off x="3293964" y="84511"/>
            <a:ext cx="5413793" cy="10277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9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b="1" dirty="0">
              <a:latin typeface="Amasis MT Pro Black" panose="02040A040500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835F3-7070-1252-CACA-F98FA128F30E}"/>
              </a:ext>
            </a:extLst>
          </p:cNvPr>
          <p:cNvSpPr txBox="1"/>
          <p:nvPr/>
        </p:nvSpPr>
        <p:spPr>
          <a:xfrm>
            <a:off x="833869" y="2230214"/>
            <a:ext cx="492573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Body Shape Prediction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Algorithm:</a:t>
            </a:r>
            <a:r>
              <a:rPr lang="en-US" sz="2000" dirty="0"/>
              <a:t> </a:t>
            </a:r>
            <a:r>
              <a:rPr lang="en-US" sz="2000" dirty="0" err="1"/>
              <a:t>LightGBM</a:t>
            </a:r>
            <a:r>
              <a:rPr lang="en-US" sz="2000" dirty="0"/>
              <a:t> (Multiclass Classification)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Input:</a:t>
            </a:r>
            <a:r>
              <a:rPr lang="en-US" sz="2000" dirty="0"/>
              <a:t> SHR, WHR ratios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Why Used: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Designed for structured numerical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Fast and lightweight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confidence probabilities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Suitable for real-time API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591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21F65-F544-45E8-7F97-F493B9688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9EDD809-10C9-C90F-3EA3-8D267232BBFE}"/>
              </a:ext>
            </a:extLst>
          </p:cNvPr>
          <p:cNvSpPr txBox="1">
            <a:spLocks/>
          </p:cNvSpPr>
          <p:nvPr/>
        </p:nvSpPr>
        <p:spPr>
          <a:xfrm>
            <a:off x="128969" y="1113033"/>
            <a:ext cx="10199595" cy="553287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masis MT Pro Black" panose="02040A04050005020304" pitchFamily="18" charset="0"/>
            </a:endParaRP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B9DB58E7-1488-070B-A665-1208DC455724}"/>
              </a:ext>
            </a:extLst>
          </p:cNvPr>
          <p:cNvSpPr txBox="1">
            <a:spLocks/>
          </p:cNvSpPr>
          <p:nvPr/>
        </p:nvSpPr>
        <p:spPr>
          <a:xfrm>
            <a:off x="326398" y="1776771"/>
            <a:ext cx="5433204" cy="3651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b="1" dirty="0">
              <a:latin typeface="Amasis MT Pro Black" panose="02040A04050005020304" pitchFamily="18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4EE8F73-3F30-717B-FC1B-8BE903CCDAC7}"/>
              </a:ext>
            </a:extLst>
          </p:cNvPr>
          <p:cNvSpPr txBox="1">
            <a:spLocks/>
          </p:cNvSpPr>
          <p:nvPr/>
        </p:nvSpPr>
        <p:spPr>
          <a:xfrm>
            <a:off x="1125238" y="2247684"/>
            <a:ext cx="8708573" cy="171471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EA84EFAE-ED60-6754-EF5A-71B70AFBCFE4}"/>
              </a:ext>
            </a:extLst>
          </p:cNvPr>
          <p:cNvSpPr txBox="1">
            <a:spLocks/>
          </p:cNvSpPr>
          <p:nvPr/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05/01/2026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857F10CD-3B44-6F56-1F3A-6BA926E2ED65}"/>
              </a:ext>
            </a:extLst>
          </p:cNvPr>
          <p:cNvSpPr txBox="1">
            <a:spLocks/>
          </p:cNvSpPr>
          <p:nvPr/>
        </p:nvSpPr>
        <p:spPr>
          <a:xfrm>
            <a:off x="3583858" y="6483043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IT21188886 | Shangeetha J | 25-26J-302 </a:t>
            </a:r>
          </a:p>
          <a:p>
            <a:endParaRPr lang="en-US" sz="1600" b="1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991B3712-0926-8F9B-EED1-666F69984310}"/>
              </a:ext>
            </a:extLst>
          </p:cNvPr>
          <p:cNvSpPr txBox="1">
            <a:spLocks/>
          </p:cNvSpPr>
          <p:nvPr/>
        </p:nvSpPr>
        <p:spPr>
          <a:xfrm>
            <a:off x="10925979" y="6484169"/>
            <a:ext cx="72301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C12960-6E85-460F-B6E3-5B82CB31AF3D}" type="slidenum">
              <a:rPr lang="en-US" sz="1400" smtClean="0"/>
              <a:pPr/>
              <a:t>9</a:t>
            </a:fld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7A3D67-8A7A-5F87-6AB9-3F57983374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7231D80C-6A43-4743-A095-BC335E0E583B}"/>
              </a:ext>
            </a:extLst>
          </p:cNvPr>
          <p:cNvSpPr txBox="1">
            <a:spLocks/>
          </p:cNvSpPr>
          <p:nvPr/>
        </p:nvSpPr>
        <p:spPr>
          <a:xfrm>
            <a:off x="265327" y="4007823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latin typeface="Amasis MT Pro Black" panose="02040A04050005020304" pitchFamily="18" charset="0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ECCEE52-C4FA-73F9-8E0C-F10E527C518B}"/>
              </a:ext>
            </a:extLst>
          </p:cNvPr>
          <p:cNvSpPr txBox="1">
            <a:spLocks/>
          </p:cNvSpPr>
          <p:nvPr/>
        </p:nvSpPr>
        <p:spPr>
          <a:xfrm>
            <a:off x="1125237" y="4373674"/>
            <a:ext cx="8708573" cy="2119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GB" sz="20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A5F7914-F82D-6B54-5BFA-E33266B87FA1}"/>
              </a:ext>
            </a:extLst>
          </p:cNvPr>
          <p:cNvSpPr txBox="1">
            <a:spLocks/>
          </p:cNvSpPr>
          <p:nvPr/>
        </p:nvSpPr>
        <p:spPr>
          <a:xfrm>
            <a:off x="3293964" y="84511"/>
            <a:ext cx="5413793" cy="10277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9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b="1" dirty="0">
              <a:latin typeface="Amasis MT Pro Black" panose="02040A040500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A0135-9FDB-8D78-6725-1CFB7BED3FC5}"/>
              </a:ext>
            </a:extLst>
          </p:cNvPr>
          <p:cNvSpPr txBox="1"/>
          <p:nvPr/>
        </p:nvSpPr>
        <p:spPr>
          <a:xfrm>
            <a:off x="539608" y="1250367"/>
            <a:ext cx="8303230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Skin Tone Classification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18741D-6B09-737C-694E-E1334916D2DC}"/>
              </a:ext>
            </a:extLst>
          </p:cNvPr>
          <p:cNvSpPr txBox="1"/>
          <p:nvPr/>
        </p:nvSpPr>
        <p:spPr>
          <a:xfrm>
            <a:off x="639096" y="1885647"/>
            <a:ext cx="553114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Algorithm: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Custom Convolutional Neural Network (CNN)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Input: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RGB skin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en-US" sz="20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Why Used: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CNNs are optimal for image-based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Automatically learn color and texture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Robust to lighting variations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Validation Accuracy: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74.67%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356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A515-DAA7-DB6A-87E2-34B35795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0313EA5-E36E-84CB-BDA9-02EC42710E7E}"/>
              </a:ext>
            </a:extLst>
          </p:cNvPr>
          <p:cNvSpPr txBox="1">
            <a:spLocks/>
          </p:cNvSpPr>
          <p:nvPr/>
        </p:nvSpPr>
        <p:spPr>
          <a:xfrm>
            <a:off x="128969" y="1113033"/>
            <a:ext cx="10199595" cy="553287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masis MT Pro Black" panose="02040A04050005020304" pitchFamily="18" charset="0"/>
            </a:endParaRP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9AB31E9A-BCF7-639D-4556-CDB89535EF7E}"/>
              </a:ext>
            </a:extLst>
          </p:cNvPr>
          <p:cNvSpPr txBox="1">
            <a:spLocks/>
          </p:cNvSpPr>
          <p:nvPr/>
        </p:nvSpPr>
        <p:spPr>
          <a:xfrm>
            <a:off x="326398" y="1776771"/>
            <a:ext cx="5433204" cy="3651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b="1" dirty="0">
              <a:latin typeface="Amasis MT Pro Black" panose="02040A04050005020304" pitchFamily="18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0C5FD0F-B579-3692-2AD8-23AB5B1B24A9}"/>
              </a:ext>
            </a:extLst>
          </p:cNvPr>
          <p:cNvSpPr txBox="1">
            <a:spLocks/>
          </p:cNvSpPr>
          <p:nvPr/>
        </p:nvSpPr>
        <p:spPr>
          <a:xfrm>
            <a:off x="1125238" y="2247684"/>
            <a:ext cx="8708573" cy="171471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C60CEAD3-6C10-233F-3675-5D133C90EB09}"/>
              </a:ext>
            </a:extLst>
          </p:cNvPr>
          <p:cNvSpPr txBox="1">
            <a:spLocks/>
          </p:cNvSpPr>
          <p:nvPr/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05/01/2026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65EE253B-1FC5-422F-F826-4367AE011A22}"/>
              </a:ext>
            </a:extLst>
          </p:cNvPr>
          <p:cNvSpPr txBox="1">
            <a:spLocks/>
          </p:cNvSpPr>
          <p:nvPr/>
        </p:nvSpPr>
        <p:spPr>
          <a:xfrm>
            <a:off x="3583858" y="6483043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IT21188886 | Shangeetha J | 25-26J-302 </a:t>
            </a:r>
          </a:p>
          <a:p>
            <a:endParaRPr lang="en-US" sz="1600" b="1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A1988E26-9C1F-388E-9050-59972E1E90A2}"/>
              </a:ext>
            </a:extLst>
          </p:cNvPr>
          <p:cNvSpPr txBox="1">
            <a:spLocks/>
          </p:cNvSpPr>
          <p:nvPr/>
        </p:nvSpPr>
        <p:spPr>
          <a:xfrm>
            <a:off x="10925979" y="6484169"/>
            <a:ext cx="72301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C12960-6E85-460F-B6E3-5B82CB31AF3D}" type="slidenum">
              <a:rPr lang="en-US" sz="1400" smtClean="0"/>
              <a:pPr/>
              <a:t>10</a:t>
            </a:fld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9BC423-ED43-DBB4-5548-C19D8FFE22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C3020C14-F84D-B16B-B9E1-F7F9A8160BD4}"/>
              </a:ext>
            </a:extLst>
          </p:cNvPr>
          <p:cNvSpPr txBox="1">
            <a:spLocks/>
          </p:cNvSpPr>
          <p:nvPr/>
        </p:nvSpPr>
        <p:spPr>
          <a:xfrm>
            <a:off x="265327" y="4007823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latin typeface="Amasis MT Pro Black" panose="02040A04050005020304" pitchFamily="18" charset="0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D02037-40BB-F421-A61B-BAB5A7392C81}"/>
              </a:ext>
            </a:extLst>
          </p:cNvPr>
          <p:cNvSpPr txBox="1">
            <a:spLocks/>
          </p:cNvSpPr>
          <p:nvPr/>
        </p:nvSpPr>
        <p:spPr>
          <a:xfrm>
            <a:off x="1125237" y="4373674"/>
            <a:ext cx="8708573" cy="2119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GB" sz="20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0AB550A-0B34-FF66-09C1-9E918284145E}"/>
              </a:ext>
            </a:extLst>
          </p:cNvPr>
          <p:cNvSpPr txBox="1">
            <a:spLocks/>
          </p:cNvSpPr>
          <p:nvPr/>
        </p:nvSpPr>
        <p:spPr>
          <a:xfrm>
            <a:off x="3293964" y="84511"/>
            <a:ext cx="5413793" cy="10277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9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b="1" dirty="0">
              <a:latin typeface="Amasis MT Pro Black" panose="02040A040500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E2790-0FA6-7A9A-8CEA-D4D5E7F5BC88}"/>
              </a:ext>
            </a:extLst>
          </p:cNvPr>
          <p:cNvSpPr txBox="1"/>
          <p:nvPr/>
        </p:nvSpPr>
        <p:spPr>
          <a:xfrm>
            <a:off x="539608" y="1250367"/>
            <a:ext cx="83032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Outfit Recommendation</a:t>
            </a:r>
            <a:endParaRPr 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4081B-3B93-C6F7-71E2-2088CFC35C3F}"/>
              </a:ext>
            </a:extLst>
          </p:cNvPr>
          <p:cNvSpPr txBox="1"/>
          <p:nvPr/>
        </p:nvSpPr>
        <p:spPr>
          <a:xfrm>
            <a:off x="639096" y="1885647"/>
            <a:ext cx="585437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Algorithm:</a:t>
            </a:r>
            <a:r>
              <a:rPr lang="en-US" dirty="0"/>
              <a:t> </a:t>
            </a:r>
            <a:r>
              <a:rPr lang="en-US" dirty="0" err="1"/>
              <a:t>LightGBM</a:t>
            </a:r>
            <a:r>
              <a:rPr lang="en-US" dirty="0"/>
              <a:t> (Multiple Multiclass Models)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Input:</a:t>
            </a:r>
            <a:r>
              <a:rPr lang="en-US" dirty="0"/>
              <a:t> Body Shape, Skin Tone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Outputs: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Tops, Bottoms, Dresses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Saree Style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Recommended Colors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Used: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Efficient handling of categorical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Avoids rule-based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Easily extendable</a:t>
            </a:r>
          </a:p>
        </p:txBody>
      </p:sp>
    </p:spTree>
    <p:extLst>
      <p:ext uri="{BB962C8B-B14F-4D97-AF65-F5344CB8AC3E}">
        <p14:creationId xmlns:p14="http://schemas.microsoft.com/office/powerpoint/2010/main" val="271844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07" y="1031191"/>
            <a:ext cx="5413793" cy="487681"/>
          </a:xfrm>
        </p:spPr>
        <p:txBody>
          <a:bodyPr rtlCol="0">
            <a:normAutofit/>
          </a:bodyPr>
          <a:lstStyle/>
          <a:p>
            <a:r>
              <a:rPr lang="en-GB" sz="2000" dirty="0">
                <a:latin typeface="Amasis MT Pro Black" panose="02040A04050005020304" pitchFamily="18" charset="0"/>
              </a:rPr>
              <a:t>Implementation Details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3067" y="1445142"/>
            <a:ext cx="3716665" cy="487681"/>
          </a:xfrm>
        </p:spPr>
        <p:txBody>
          <a:bodyPr rtlCol="0"/>
          <a:lstStyle/>
          <a:p>
            <a:pPr rtl="0"/>
            <a:r>
              <a:rPr lang="en-GB" sz="1800" dirty="0">
                <a:latin typeface="Amasis MT Pro Black" panose="02040A04050005020304" pitchFamily="18" charset="0"/>
              </a:rPr>
              <a:t>SYSTEM OVERVIEW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/>
              <a:t>20XX</a:t>
            </a:r>
            <a:endParaRPr lang="en-GB" dirty="0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0AF3F29B-1DBF-DB5E-3E7B-4690506BF6AA}"/>
              </a:ext>
            </a:extLst>
          </p:cNvPr>
          <p:cNvSpPr txBox="1">
            <a:spLocks/>
          </p:cNvSpPr>
          <p:nvPr/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GB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1"/>
                </a:solidFill>
              </a:rPr>
              <a:t>05/01/2026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00E184A-7AEF-1596-9581-4EBCDE607C31}"/>
              </a:ext>
            </a:extLst>
          </p:cNvPr>
          <p:cNvSpPr txBox="1">
            <a:spLocks/>
          </p:cNvSpPr>
          <p:nvPr/>
        </p:nvSpPr>
        <p:spPr>
          <a:xfrm>
            <a:off x="3583858" y="6483043"/>
            <a:ext cx="502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IT21188886 | Shangeetha J | 25-26J-302 </a:t>
            </a:r>
          </a:p>
          <a:p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A6231389-EF3C-6D2B-82B7-0D6C99CEF598}"/>
              </a:ext>
            </a:extLst>
          </p:cNvPr>
          <p:cNvSpPr txBox="1">
            <a:spLocks/>
          </p:cNvSpPr>
          <p:nvPr/>
        </p:nvSpPr>
        <p:spPr>
          <a:xfrm>
            <a:off x="10925979" y="6484169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C12960-6E85-460F-B6E3-5B82CB31AF3D}" type="slidenum">
              <a:rPr lang="en-US" sz="1400" smtClean="0"/>
              <a:pPr/>
              <a:t>11</a:t>
            </a:fld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A54029-C39D-4C88-FA62-184D96BAF6E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51108A81-5015-DCEB-F015-B40C67EE10BD}"/>
              </a:ext>
            </a:extLst>
          </p:cNvPr>
          <p:cNvSpPr txBox="1">
            <a:spLocks/>
          </p:cNvSpPr>
          <p:nvPr/>
        </p:nvSpPr>
        <p:spPr>
          <a:xfrm>
            <a:off x="3581399" y="502706"/>
            <a:ext cx="5413793" cy="5532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9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b="1" dirty="0">
              <a:latin typeface="Amasis MT Pro Black" panose="02040A04050005020304" pitchFamily="18" charset="0"/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B1EA2C7-88D6-26FD-704A-72D4AA11E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291" y="2109884"/>
            <a:ext cx="7210510" cy="412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672A6-AE66-1EA2-5D49-D0299220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90B2-34A1-FEB6-8F87-F61B2008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335" y="1182684"/>
            <a:ext cx="5413793" cy="487681"/>
          </a:xfrm>
        </p:spPr>
        <p:txBody>
          <a:bodyPr rtlCol="0">
            <a:normAutofit fontScale="90000"/>
          </a:bodyPr>
          <a:lstStyle/>
          <a:p>
            <a:r>
              <a:rPr lang="en-GB" sz="2000" dirty="0">
                <a:latin typeface="Amasis MT Pro Black" panose="02040A04050005020304" pitchFamily="18" charset="0"/>
              </a:rPr>
              <a:t>How to use in a real-world scenario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B0D990E-4B1F-507E-4C42-652FF34E9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GB"/>
              <a:t>20XX</a:t>
            </a:r>
            <a:endParaRPr lang="en-GB" dirty="0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0327E0-1F9C-D7BF-E620-55131A773A65}"/>
              </a:ext>
            </a:extLst>
          </p:cNvPr>
          <p:cNvSpPr txBox="1">
            <a:spLocks/>
          </p:cNvSpPr>
          <p:nvPr/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GB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1"/>
                </a:solidFill>
              </a:rPr>
              <a:t>05/01/2026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4627D47B-C30D-7EBE-FC19-821E125AF03C}"/>
              </a:ext>
            </a:extLst>
          </p:cNvPr>
          <p:cNvSpPr txBox="1">
            <a:spLocks/>
          </p:cNvSpPr>
          <p:nvPr/>
        </p:nvSpPr>
        <p:spPr>
          <a:xfrm>
            <a:off x="3583858" y="6483043"/>
            <a:ext cx="502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GB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IT21188886 | Shangeetha J | 25-26J-302 </a:t>
            </a:r>
          </a:p>
          <a:p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1DD97AC-72B1-0D93-078F-EA1367936CC6}"/>
              </a:ext>
            </a:extLst>
          </p:cNvPr>
          <p:cNvSpPr txBox="1">
            <a:spLocks/>
          </p:cNvSpPr>
          <p:nvPr/>
        </p:nvSpPr>
        <p:spPr>
          <a:xfrm>
            <a:off x="10925979" y="6484169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GB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C12960-6E85-460F-B6E3-5B82CB31AF3D}" type="slidenum">
              <a:rPr lang="en-US" sz="1400" smtClean="0"/>
              <a:pPr/>
              <a:t>12</a:t>
            </a:fld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882093B-312A-2173-9AFA-EB79467050F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D04ACFD5-B686-CF4B-B7E7-87222877204F}"/>
              </a:ext>
            </a:extLst>
          </p:cNvPr>
          <p:cNvSpPr txBox="1">
            <a:spLocks/>
          </p:cNvSpPr>
          <p:nvPr/>
        </p:nvSpPr>
        <p:spPr>
          <a:xfrm>
            <a:off x="3581399" y="502706"/>
            <a:ext cx="5413793" cy="5532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Body &amp; Skin-Based Fashion Recommendation with Explainable Insights</a:t>
            </a:r>
            <a:endParaRPr lang="en-GB" sz="96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b="1" dirty="0">
              <a:latin typeface="Amasis MT Pro Black" panose="02040A040500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F332385-B0AD-7B6C-3A0E-568414A95C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92025"/>
            <a:ext cx="819773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uploads photos → front and optional side view.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analyzes body shape → calculates key ratios, landmarks.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classifies skin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colour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normalizes lighting, identifies tone.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Hybrid AI engine generates recommendations → outfit types,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colours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accessories.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Explainable output is shown → Your body type is pear; A-line skirts balance proportions; medium skin tone pairs well with jewel tones like emerald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1813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IT22269270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Thivvijavearl</a:t>
            </a:r>
            <a:r>
              <a:rPr lang="en-US" dirty="0">
                <a:solidFill>
                  <a:schemeClr val="tx1"/>
                </a:solidFill>
              </a:rPr>
              <a:t> T.S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25-26J-302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37FE9BC7-78DD-7688-B060-AFA60269D1CA}"/>
              </a:ext>
            </a:extLst>
          </p:cNvPr>
          <p:cNvSpPr txBox="1">
            <a:spLocks/>
          </p:cNvSpPr>
          <p:nvPr/>
        </p:nvSpPr>
        <p:spPr>
          <a:xfrm>
            <a:off x="498293" y="1378482"/>
            <a:ext cx="10363200" cy="1353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>
                <a:solidFill>
                  <a:srgbClr val="002060"/>
                </a:solidFill>
              </a:rPr>
              <a:t>IT22269270  |  </a:t>
            </a:r>
            <a:r>
              <a:rPr lang="en-US" sz="6000" dirty="0" err="1">
                <a:solidFill>
                  <a:srgbClr val="002060"/>
                </a:solidFill>
              </a:rPr>
              <a:t>Thivvijavearl</a:t>
            </a:r>
            <a:r>
              <a:rPr lang="en-US" sz="6000" dirty="0">
                <a:solidFill>
                  <a:srgbClr val="002060"/>
                </a:solidFill>
              </a:rPr>
              <a:t> T.S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E4B20-6C01-2F2C-0B39-28ED06941EA8}"/>
              </a:ext>
            </a:extLst>
          </p:cNvPr>
          <p:cNvSpPr txBox="1"/>
          <p:nvPr/>
        </p:nvSpPr>
        <p:spPr>
          <a:xfrm>
            <a:off x="3935760" y="3832000"/>
            <a:ext cx="348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>
                    <a:lumMod val="65000"/>
                  </a:schemeClr>
                </a:solidFill>
              </a:rPr>
              <a:t>Information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A34DB-F1F0-5476-99CD-922BE0FB9FD7}"/>
              </a:ext>
            </a:extLst>
          </p:cNvPr>
          <p:cNvSpPr txBox="1"/>
          <p:nvPr/>
        </p:nvSpPr>
        <p:spPr>
          <a:xfrm>
            <a:off x="2279576" y="2708920"/>
            <a:ext cx="9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Event Theme Based Outfit Matching</a:t>
            </a:r>
            <a:endParaRPr lang="en-GB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665597-DAEE-F2D8-1E51-D657E2B02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98"/>
          <a:stretch>
            <a:fillRect/>
          </a:stretch>
        </p:blipFill>
        <p:spPr>
          <a:xfrm>
            <a:off x="10103969" y="144379"/>
            <a:ext cx="2053277" cy="232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27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FEE72-9E51-2B9B-E8A0-80799F8A2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75" b="7975"/>
          <a:stretch/>
        </p:blipFill>
        <p:spPr>
          <a:xfrm>
            <a:off x="479376" y="1279302"/>
            <a:ext cx="4595845" cy="3862840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533D2F-1523-09A4-367B-C9851031828E}"/>
              </a:ext>
            </a:extLst>
          </p:cNvPr>
          <p:cNvSpPr txBox="1"/>
          <p:nvPr/>
        </p:nvSpPr>
        <p:spPr>
          <a:xfrm>
            <a:off x="5326896" y="1279302"/>
            <a:ext cx="6672064" cy="44407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b="1" dirty="0"/>
              <a:t>Problem</a:t>
            </a:r>
            <a:br>
              <a:rPr lang="en-GB" sz="2000" b="1" dirty="0"/>
            </a:br>
            <a:endParaRPr lang="en-GB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/>
              <a:t>Wearing theme mismatch outfits for events.</a:t>
            </a:r>
          </a:p>
          <a:p>
            <a:br>
              <a:rPr lang="en-GB" sz="2000" dirty="0"/>
            </a:br>
            <a:endParaRPr lang="en-GB" sz="2000" dirty="0"/>
          </a:p>
          <a:p>
            <a:r>
              <a:rPr lang="en-GB" sz="2000" b="1" dirty="0"/>
              <a:t>Solution</a:t>
            </a:r>
            <a:br>
              <a:rPr lang="en-GB" sz="2000" b="1" dirty="0"/>
            </a:br>
            <a:endParaRPr lang="en-GB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AI based event theme outfit recommendation.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Event decoration color and theme analysis using image processing.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Matching outfit color and style suggestions based on detected theme.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7C16E-1430-72B6-A57B-86462AB71DE4}"/>
              </a:ext>
            </a:extLst>
          </p:cNvPr>
          <p:cNvSpPr txBox="1"/>
          <p:nvPr/>
        </p:nvSpPr>
        <p:spPr>
          <a:xfrm>
            <a:off x="2207568" y="188640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Event Theme Based Outfit Matching</a:t>
            </a:r>
          </a:p>
          <a:p>
            <a:endParaRPr lang="en-GB" sz="3600" dirty="0">
              <a:solidFill>
                <a:srgbClr val="00206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031081-43FD-1AD2-23C6-95E11A0DA58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IT22269270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Thivvijavearl</a:t>
            </a:r>
            <a:r>
              <a:rPr lang="en-US" dirty="0">
                <a:solidFill>
                  <a:schemeClr val="tx1"/>
                </a:solidFill>
              </a:rPr>
              <a:t> T.S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25-26J-302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308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051312F-97AB-84CB-E78F-0839B7739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168" y="104124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Event Theme Based Outfit Matching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67747-4B92-A5E7-C824-BF3EB992E985}"/>
              </a:ext>
            </a:extLst>
          </p:cNvPr>
          <p:cNvSpPr txBox="1"/>
          <p:nvPr/>
        </p:nvSpPr>
        <p:spPr>
          <a:xfrm>
            <a:off x="6607986" y="1211169"/>
            <a:ext cx="5389033" cy="46796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b="1" u="sng" dirty="0"/>
              <a:t>Design Excellence / Contributio</a:t>
            </a:r>
            <a:r>
              <a:rPr lang="en-US" b="1" u="sng" dirty="0"/>
              <a:t>n</a:t>
            </a:r>
            <a:br>
              <a:rPr lang="en-US" sz="1500" b="1" dirty="0"/>
            </a:b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dirty="0"/>
              <a:t>Designed a user centered interface for event theme–based outfit selection.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dirty="0"/>
              <a:t>Ensured smooth data flow from event image input to outfit recommendation output.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dirty="0"/>
              <a:t>Applied responsive UI design for consistent use across desktop and mobile devices.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dirty="0"/>
              <a:t>Integrated real time visual feedback during image upload and analysis.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dirty="0"/>
              <a:t>Optimized system performance for quick and accurate outfit predictions.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dirty="0"/>
              <a:t>Improved the design iteratively using user feedback from prototype testing.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500" dirty="0"/>
              <a:t>Enhanced result presentation with clear outfit suggestions and color explanations.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D76776-C3BD-1E98-5B40-8A44AA0504C8}"/>
              </a:ext>
            </a:extLst>
          </p:cNvPr>
          <p:cNvGraphicFramePr>
            <a:graphicFrameLocks noGrp="1"/>
          </p:cNvGraphicFramePr>
          <p:nvPr/>
        </p:nvGraphicFramePr>
        <p:xfrm>
          <a:off x="363071" y="1711053"/>
          <a:ext cx="5386917" cy="36686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40997">
                  <a:extLst>
                    <a:ext uri="{9D8B030D-6E8A-4147-A177-3AD203B41FA5}">
                      <a16:colId xmlns:a16="http://schemas.microsoft.com/office/drawing/2014/main" val="2152794406"/>
                    </a:ext>
                  </a:extLst>
                </a:gridCol>
                <a:gridCol w="3445920">
                  <a:extLst>
                    <a:ext uri="{9D8B030D-6E8A-4147-A177-3AD203B41FA5}">
                      <a16:colId xmlns:a16="http://schemas.microsoft.com/office/drawing/2014/main" val="3906643820"/>
                    </a:ext>
                  </a:extLst>
                </a:gridCol>
              </a:tblGrid>
              <a:tr h="375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/>
                        <a:t>Category</a:t>
                      </a:r>
                      <a:endParaRPr lang="en-GB" sz="1700" dirty="0"/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/>
                        <a:t>Feedback</a:t>
                      </a:r>
                      <a:endParaRPr lang="en-GB" sz="1700" dirty="0"/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139245"/>
                  </a:ext>
                </a:extLst>
              </a:tr>
              <a:tr h="88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/>
                        <a:t>Usability</a:t>
                      </a:r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Easy to use interface with simple event image upload and clear outfit suggestions.</a:t>
                      </a:r>
                      <a:endParaRPr lang="en-GB" sz="1700" dirty="0"/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593177"/>
                  </a:ext>
                </a:extLst>
              </a:tr>
              <a:tr h="631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/>
                        <a:t>Prediction Output</a:t>
                      </a:r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Outfit color recommendations are clear and easy to understand</a:t>
                      </a:r>
                      <a:endParaRPr lang="en-GB" sz="1700" dirty="0"/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359764"/>
                  </a:ext>
                </a:extLst>
              </a:tr>
              <a:tr h="88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/>
                        <a:t>Performance</a:t>
                      </a:r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Fast response when analyzing event decoration images.</a:t>
                      </a:r>
                      <a:endParaRPr lang="en-GB" sz="1700" dirty="0"/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087236"/>
                  </a:ext>
                </a:extLst>
              </a:tr>
              <a:tr h="88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/>
                        <a:t>Improvements</a:t>
                      </a:r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More outfit style options and better mobile screen layout.</a:t>
                      </a:r>
                      <a:endParaRPr lang="en-GB" sz="1700" dirty="0"/>
                    </a:p>
                  </a:txBody>
                  <a:tcPr marL="85319" marR="85319" marT="42659" marB="4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5732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9EA9D9-9699-14A3-6ACB-60DD725FE59E}"/>
              </a:ext>
            </a:extLst>
          </p:cNvPr>
          <p:cNvSpPr txBox="1"/>
          <p:nvPr/>
        </p:nvSpPr>
        <p:spPr>
          <a:xfrm>
            <a:off x="1456765" y="1098178"/>
            <a:ext cx="274544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 dirty="0">
                <a:latin typeface="Cambria"/>
                <a:ea typeface="Cambria"/>
                <a:cs typeface="Cambria"/>
              </a:rPr>
              <a:t>User Feedback </a:t>
            </a:r>
            <a:endParaRPr lang="en-US" b="1" u="sng" dirty="0">
              <a:ea typeface="Cambria"/>
            </a:endParaRPr>
          </a:p>
          <a:p>
            <a:pPr algn="ctr"/>
            <a:endParaRPr lang="en-GB" b="1" dirty="0">
              <a:ea typeface="Cambri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30B75-9FF0-423A-3D2F-2831970516C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IT22269270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Thivvijavearl</a:t>
            </a:r>
            <a:r>
              <a:rPr lang="en-US" dirty="0">
                <a:solidFill>
                  <a:schemeClr val="tx1"/>
                </a:solidFill>
              </a:rPr>
              <a:t> T.S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25-26J-302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825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C2CE8E-0660-3425-497B-178330D5C119}"/>
              </a:ext>
            </a:extLst>
          </p:cNvPr>
          <p:cNvSpPr txBox="1"/>
          <p:nvPr/>
        </p:nvSpPr>
        <p:spPr>
          <a:xfrm>
            <a:off x="558799" y="1210733"/>
            <a:ext cx="931333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How the Solution Addresses the Sub-Problem / Prototype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Users upload an image of the event decoration or theme in real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system analyzes visual features such as dominant colors, patterns, and textures.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AI/ML model predicts suitable outfit colors and styles that match the detected theme.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Visualizes recommended outfits and provides clear style suggestions to the user.</a:t>
            </a:r>
            <a:endParaRPr lang="en-GB" sz="1600" dirty="0"/>
          </a:p>
          <a:p>
            <a:r>
              <a:rPr lang="en-GB" b="1" dirty="0">
                <a:solidFill>
                  <a:srgbClr val="FF0000"/>
                </a:solidFill>
              </a:rPr>
              <a:t>User Requirements Addressed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Simple and intuitive interface for uploading event images and viewing suggestions.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Fast and accurate outfit recommendation based on decoration theme analysis.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multiple color and style options relevant to different event themes.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suggestions for matching outfits to avoid mismatched clothing choices.</a:t>
            </a:r>
            <a:endParaRPr lang="en-GB" sz="1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2BC62A-4679-6529-C189-892F2834FE60}"/>
              </a:ext>
            </a:extLst>
          </p:cNvPr>
          <p:cNvSpPr txBox="1">
            <a:spLocks/>
          </p:cNvSpPr>
          <p:nvPr/>
        </p:nvSpPr>
        <p:spPr>
          <a:xfrm>
            <a:off x="1775520" y="194763"/>
            <a:ext cx="9865096" cy="80657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Theme Based Outfit Matching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70B8D-0E13-5D21-DB06-EBDB5E6B69F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IT22269270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Thivvijavearl</a:t>
            </a:r>
            <a:r>
              <a:rPr lang="en-US" dirty="0">
                <a:solidFill>
                  <a:schemeClr val="tx1"/>
                </a:solidFill>
              </a:rPr>
              <a:t> T.S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25-26J-302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059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76910"/>
            <a:ext cx="12192000" cy="181610"/>
          </a:xfrm>
          <a:custGeom>
            <a:avLst/>
            <a:gdLst/>
            <a:ahLst/>
            <a:cxnLst/>
            <a:rect l="l" t="t" r="r" b="b"/>
            <a:pathLst>
              <a:path w="12192000" h="181609">
                <a:moveTo>
                  <a:pt x="4803267" y="0"/>
                </a:moveTo>
                <a:lnTo>
                  <a:pt x="0" y="181090"/>
                </a:lnTo>
                <a:lnTo>
                  <a:pt x="12192000" y="181090"/>
                </a:lnTo>
                <a:lnTo>
                  <a:pt x="480326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lang="en-GB" spc="-10" dirty="0"/>
              <a:t>IT22066848</a:t>
            </a:r>
            <a:r>
              <a:rPr lang="en-GB" dirty="0"/>
              <a:t>	</a:t>
            </a:r>
            <a:r>
              <a:rPr lang="en-GB" b="0" spc="-50" dirty="0"/>
              <a:t>|</a:t>
            </a:r>
            <a:endParaRPr b="0" spc="-5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b="1" dirty="0">
                <a:latin typeface="Cambria"/>
                <a:cs typeface="Cambria"/>
              </a:rPr>
              <a:t>   </a:t>
            </a:r>
            <a:r>
              <a:rPr lang="en-GB" b="1" dirty="0">
                <a:latin typeface="Cambria"/>
                <a:cs typeface="Cambria"/>
              </a:rPr>
              <a:t>Abirajh A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|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5488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>
                <a:latin typeface="Cambria"/>
                <a:cs typeface="Cambria"/>
              </a:rPr>
              <a:t>   </a:t>
            </a:r>
            <a:r>
              <a:rPr b="1" spc="-10" dirty="0">
                <a:latin typeface="Cambria"/>
                <a:cs typeface="Cambria"/>
              </a:rPr>
              <a:t>25-26J-</a:t>
            </a:r>
            <a:r>
              <a:rPr lang="en-GB" b="1" spc="-10" dirty="0">
                <a:latin typeface="Cambria"/>
                <a:cs typeface="Cambria"/>
              </a:rPr>
              <a:t>302</a:t>
            </a:r>
            <a:endParaRPr sz="1800" b="1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15470" y="6559759"/>
            <a:ext cx="131445" cy="21993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GB" sz="1400" b="1" spc="-50" dirty="0">
                <a:latin typeface="Cambria"/>
                <a:cs typeface="Cambria"/>
              </a:rPr>
              <a:t>1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10367009" y="6574303"/>
            <a:ext cx="81089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GB" spc="-10"/>
              <a:t>8/26/2025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041908" y="4270375"/>
            <a:ext cx="909269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Cambria"/>
                <a:cs typeface="Cambria"/>
              </a:rPr>
              <a:t>Digital wardrobe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1908" y="5367629"/>
            <a:ext cx="1013599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/>
              <a:t>B.Sc. (Hons) Degree in Information Technology, Specializing in </a:t>
            </a:r>
            <a:r>
              <a:rPr lang="en-US" dirty="0"/>
              <a:t>information Technology</a:t>
            </a:r>
            <a:r>
              <a:rPr lang="en-US" sz="1800" dirty="0"/>
              <a:t>​​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C9285B9-E79A-F8C3-F16D-90AF17D6CC3D}"/>
              </a:ext>
            </a:extLst>
          </p:cNvPr>
          <p:cNvSpPr txBox="1">
            <a:spLocks/>
          </p:cNvSpPr>
          <p:nvPr/>
        </p:nvSpPr>
        <p:spPr>
          <a:xfrm>
            <a:off x="990600" y="2842279"/>
            <a:ext cx="6477000" cy="81727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066848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r>
              <a:rPr lang="en-A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ABIRAJH A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A85C18-7B25-160E-F737-ED449244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0624" y="55090"/>
            <a:ext cx="1912952" cy="24595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A832-1041-20D3-84CF-6C0BBD5F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65CA7E0A-3E54-4264-622B-0AD10AA78EE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lang="en-GB" spc="-10" dirty="0"/>
              <a:t>IT22066848</a:t>
            </a:r>
            <a:r>
              <a:rPr lang="en-GB" dirty="0"/>
              <a:t>	</a:t>
            </a:r>
            <a:r>
              <a:rPr lang="en-GB" b="0" spc="-50" dirty="0"/>
              <a:t>|</a:t>
            </a:r>
            <a:endParaRPr b="0" spc="-50" dirty="0">
              <a:latin typeface="Cambria"/>
              <a:cs typeface="Cambr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800EBC4-C01E-2E94-AB90-35105B86F614}"/>
              </a:ext>
            </a:extLst>
          </p:cNvPr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b="1" dirty="0">
                <a:latin typeface="Cambria"/>
                <a:cs typeface="Cambria"/>
              </a:rPr>
              <a:t>   </a:t>
            </a:r>
            <a:r>
              <a:rPr lang="en-GB" b="1" dirty="0">
                <a:latin typeface="Cambria"/>
                <a:cs typeface="Cambria"/>
              </a:rPr>
              <a:t>Abirajh A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|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7963A4A-F178-1311-73D4-21CAC4390623}"/>
              </a:ext>
            </a:extLst>
          </p:cNvPr>
          <p:cNvSpPr txBox="1"/>
          <p:nvPr/>
        </p:nvSpPr>
        <p:spPr>
          <a:xfrm>
            <a:off x="6824695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b="1" dirty="0">
                <a:latin typeface="Cambria"/>
                <a:cs typeface="Cambria"/>
              </a:rPr>
              <a:t>  25-26J-</a:t>
            </a:r>
            <a:r>
              <a:rPr lang="en-GB" b="1" dirty="0">
                <a:latin typeface="Cambria"/>
                <a:cs typeface="Cambria"/>
              </a:rPr>
              <a:t>302</a:t>
            </a:r>
            <a:endParaRPr sz="1800" b="1" dirty="0">
              <a:latin typeface="Cambria"/>
              <a:cs typeface="Cambri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7164BF5-0C01-9085-340B-420833504D5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490070" y="6559759"/>
            <a:ext cx="19494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GB" spc="-50" smtClean="0"/>
              <a:pPr marL="38100">
                <a:spcBef>
                  <a:spcPts val="35"/>
                </a:spcBef>
              </a:pPr>
              <a:t>18</a:t>
            </a:fld>
            <a:endParaRPr spc="-5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23FBDE3-24B4-937C-CB18-1372C24D549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7009" y="6574303"/>
            <a:ext cx="81089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GB" spc="-10"/>
              <a:t>8/26/2025</a:t>
            </a:r>
            <a:endParaRPr spc="-10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82575FF5-7D91-DDC0-099D-3AF76D39161B}"/>
              </a:ext>
            </a:extLst>
          </p:cNvPr>
          <p:cNvSpPr txBox="1"/>
          <p:nvPr/>
        </p:nvSpPr>
        <p:spPr>
          <a:xfrm>
            <a:off x="1066758" y="228600"/>
            <a:ext cx="1011852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Cambria"/>
                <a:cs typeface="Cambria"/>
              </a:rPr>
              <a:t>Digital Wardrobe</a:t>
            </a:r>
            <a:endParaRPr sz="2800" b="1" dirty="0">
              <a:latin typeface="Cambria"/>
              <a:cs typeface="Cambria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F89C737-746A-9FEB-DF56-6D429D9C303E}"/>
              </a:ext>
            </a:extLst>
          </p:cNvPr>
          <p:cNvSpPr>
            <a:spLocks noGrp="1"/>
          </p:cNvSpPr>
          <p:nvPr/>
        </p:nvSpPr>
        <p:spPr>
          <a:xfrm>
            <a:off x="813007" y="1295400"/>
            <a:ext cx="10118520" cy="121920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</a:t>
            </a:r>
            <a:r>
              <a:rPr lang="en-A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Gap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2900" dirty="0">
                <a:ea typeface="Calibri" panose="020F0502020204030204" pitchFamily="34" charset="0"/>
                <a:cs typeface="Calibri" panose="020F0502020204030204" pitchFamily="34" charset="0"/>
              </a:rPr>
              <a:t>People struggle to plan daily outfits efficiently, often repeating the same clothes and ignoring weather conditions.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81A99B-0807-A672-E553-9FB86ADBCDC4}"/>
              </a:ext>
            </a:extLst>
          </p:cNvPr>
          <p:cNvSpPr txBox="1"/>
          <p:nvPr/>
        </p:nvSpPr>
        <p:spPr>
          <a:xfrm>
            <a:off x="813007" y="2590800"/>
            <a:ext cx="965390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weather-aware outfit recommendations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personalized, context-aware digital wardrobe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or couple outfit coordination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Trip Planner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857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00CE-0F8A-9839-4042-A2C2C752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66B086B0-663C-FBFE-DBA0-CB7096BFCB9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lang="en-GB" spc="-10" dirty="0"/>
              <a:t>IT22066848</a:t>
            </a:r>
            <a:r>
              <a:rPr lang="en-GB" dirty="0"/>
              <a:t>	</a:t>
            </a:r>
            <a:r>
              <a:rPr lang="en-GB" b="0" spc="-50" dirty="0"/>
              <a:t>|</a:t>
            </a:r>
            <a:endParaRPr b="0" spc="-50" dirty="0">
              <a:latin typeface="Cambria"/>
              <a:cs typeface="Cambr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DA1C81B-4906-C0C5-697D-184C182D4A53}"/>
              </a:ext>
            </a:extLst>
          </p:cNvPr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b="1" dirty="0">
                <a:latin typeface="Cambria"/>
                <a:cs typeface="Cambria"/>
              </a:rPr>
              <a:t>  </a:t>
            </a:r>
            <a:r>
              <a:rPr lang="en-GB" b="1" dirty="0">
                <a:latin typeface="Cambria"/>
                <a:cs typeface="Cambria"/>
              </a:rPr>
              <a:t>Abirajh A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|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10B09A2-E33E-95EA-61DA-EED7DD8303BC}"/>
              </a:ext>
            </a:extLst>
          </p:cNvPr>
          <p:cNvSpPr txBox="1"/>
          <p:nvPr/>
        </p:nvSpPr>
        <p:spPr>
          <a:xfrm>
            <a:off x="6824694" y="6531783"/>
            <a:ext cx="178590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>
                <a:latin typeface="Cambria"/>
                <a:cs typeface="Cambria"/>
              </a:rPr>
              <a:t>   </a:t>
            </a:r>
            <a:r>
              <a:rPr b="1" dirty="0">
                <a:latin typeface="Cambria"/>
                <a:cs typeface="Cambria"/>
              </a:rPr>
              <a:t>25-26J-</a:t>
            </a:r>
            <a:r>
              <a:rPr lang="en-GB" b="1" dirty="0">
                <a:latin typeface="Cambria"/>
                <a:cs typeface="Cambria"/>
              </a:rPr>
              <a:t>302</a:t>
            </a:r>
            <a:endParaRPr sz="1800" b="1" dirty="0">
              <a:latin typeface="Cambria"/>
              <a:cs typeface="Cambri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D9F6CF9-F098-94F1-C05F-2EDD89902E1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490070" y="6559759"/>
            <a:ext cx="19494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GB" spc="-50" smtClean="0"/>
              <a:pPr marL="38100">
                <a:spcBef>
                  <a:spcPts val="35"/>
                </a:spcBef>
              </a:pPr>
              <a:t>19</a:t>
            </a:fld>
            <a:endParaRPr spc="-5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D50DDBE-827F-A42F-CC1C-D06AC8662A8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7009" y="6574303"/>
            <a:ext cx="81089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GB" spc="-10"/>
              <a:t>8/26/2025</a:t>
            </a:r>
            <a:endParaRPr spc="-10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14F40026-3637-1C53-C37A-04ECB3C1BA36}"/>
              </a:ext>
            </a:extLst>
          </p:cNvPr>
          <p:cNvSpPr txBox="1"/>
          <p:nvPr/>
        </p:nvSpPr>
        <p:spPr>
          <a:xfrm>
            <a:off x="1066758" y="228600"/>
            <a:ext cx="1011852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500" b="1" dirty="0">
                <a:latin typeface="Cambria"/>
                <a:cs typeface="Cambria"/>
              </a:rPr>
              <a:t>Digital wardrobe</a:t>
            </a:r>
            <a:endParaRPr sz="2500" b="1" dirty="0">
              <a:latin typeface="Cambria"/>
              <a:cs typeface="Cambria"/>
            </a:endParaRPr>
          </a:p>
        </p:txBody>
      </p:sp>
      <p:pic>
        <p:nvPicPr>
          <p:cNvPr id="2" name="Picture 1" descr="A diagram of a process of extraction&#10;&#10;AI-generated content may be incorrect.">
            <a:extLst>
              <a:ext uri="{FF2B5EF4-FFF2-40B4-BE49-F238E27FC236}">
                <a16:creationId xmlns:a16="http://schemas.microsoft.com/office/drawing/2014/main" id="{3AF3803F-2A48-5F57-0731-CFC7884D12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7" t="18031" b="6668"/>
          <a:stretch>
            <a:fillRect/>
          </a:stretch>
        </p:blipFill>
        <p:spPr>
          <a:xfrm>
            <a:off x="1512271" y="990600"/>
            <a:ext cx="5866158" cy="32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07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87D0-587E-68C2-072C-87BEBB1A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C67FA34F-1E75-C5FA-2E62-636DA5F496F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lang="en-GB" spc="-10" dirty="0"/>
              <a:t>IT22066848</a:t>
            </a:r>
            <a:r>
              <a:rPr lang="en-GB" dirty="0"/>
              <a:t>	</a:t>
            </a:r>
            <a:r>
              <a:rPr lang="en-GB" b="0" spc="-50" dirty="0"/>
              <a:t>|</a:t>
            </a:r>
            <a:endParaRPr b="0" spc="-50" dirty="0">
              <a:latin typeface="Cambria"/>
              <a:cs typeface="Cambr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5D02020-3BD9-63E8-0EDC-147B4B0FF758}"/>
              </a:ext>
            </a:extLst>
          </p:cNvPr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b="1" dirty="0">
                <a:latin typeface="Cambria"/>
                <a:cs typeface="Cambria"/>
              </a:rPr>
              <a:t>   </a:t>
            </a:r>
            <a:r>
              <a:rPr lang="en-GB" b="1" dirty="0">
                <a:latin typeface="Cambria"/>
                <a:cs typeface="Cambria"/>
              </a:rPr>
              <a:t>Abirajh A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|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4ABD245-163D-09D8-0378-455EFEA94D33}"/>
              </a:ext>
            </a:extLst>
          </p:cNvPr>
          <p:cNvSpPr txBox="1"/>
          <p:nvPr/>
        </p:nvSpPr>
        <p:spPr>
          <a:xfrm>
            <a:off x="6824695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b="1" dirty="0">
                <a:latin typeface="Cambria"/>
                <a:cs typeface="Cambria"/>
              </a:rPr>
              <a:t>  25-26J-</a:t>
            </a:r>
            <a:r>
              <a:rPr lang="en-GB" b="1" dirty="0">
                <a:latin typeface="Cambria"/>
                <a:cs typeface="Cambria"/>
              </a:rPr>
              <a:t>302</a:t>
            </a:r>
            <a:endParaRPr sz="1800" b="1" dirty="0">
              <a:latin typeface="Cambria"/>
              <a:cs typeface="Cambri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988CDB1-FBB4-8AB0-20C4-B7BE58D1668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490070" y="6559759"/>
            <a:ext cx="19494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GB" spc="-50" smtClean="0"/>
              <a:pPr marL="38100">
                <a:spcBef>
                  <a:spcPts val="35"/>
                </a:spcBef>
              </a:pPr>
              <a:t>20</a:t>
            </a:fld>
            <a:endParaRPr spc="-5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524997C-8A79-8CBF-DD25-704E003580A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0367009" y="6574303"/>
            <a:ext cx="81089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GB" spc="-10"/>
              <a:t>8/26/2025</a:t>
            </a:r>
            <a:endParaRPr spc="-10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B2F8F7A3-9716-67F9-D7C5-6513A5C289C3}"/>
              </a:ext>
            </a:extLst>
          </p:cNvPr>
          <p:cNvSpPr txBox="1"/>
          <p:nvPr/>
        </p:nvSpPr>
        <p:spPr>
          <a:xfrm>
            <a:off x="1066758" y="228600"/>
            <a:ext cx="1011852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Cambria"/>
                <a:cs typeface="Cambria"/>
              </a:rPr>
              <a:t>Digital Wardrobe</a:t>
            </a:r>
            <a:endParaRPr sz="2800" b="1" dirty="0">
              <a:latin typeface="Cambria"/>
              <a:cs typeface="Cambria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AF39073-A051-F5CB-09FA-FFF677601A69}"/>
              </a:ext>
            </a:extLst>
          </p:cNvPr>
          <p:cNvSpPr>
            <a:spLocks noGrp="1"/>
          </p:cNvSpPr>
          <p:nvPr/>
        </p:nvSpPr>
        <p:spPr>
          <a:xfrm>
            <a:off x="457200" y="904194"/>
            <a:ext cx="11613292" cy="1077006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Evaluation &amp; User Feedback</a:t>
            </a:r>
            <a:endParaRPr lang="en-AS" sz="7200" dirty="0"/>
          </a:p>
          <a:p>
            <a:pPr algn="l"/>
            <a:r>
              <a:rPr lang="en-GB" sz="7200" dirty="0"/>
              <a:t>	</a:t>
            </a:r>
            <a:r>
              <a:rPr lang="en-US" sz="8800" dirty="0"/>
              <a:t>More outfit style options and better mobile screen layout.</a:t>
            </a:r>
            <a:endParaRPr lang="en-GB" sz="8800" dirty="0"/>
          </a:p>
          <a:p>
            <a:pPr algn="l"/>
            <a:r>
              <a:rPr lang="en-GB" sz="8800" dirty="0"/>
              <a:t>	More Dress type detection</a:t>
            </a:r>
            <a:endParaRPr lang="en-AS" sz="8800" dirty="0"/>
          </a:p>
          <a:p>
            <a:pPr algn="l"/>
            <a:r>
              <a:rPr lang="en-US" sz="4800" dirty="0"/>
              <a:t>.</a:t>
            </a:r>
            <a:endParaRPr lang="en-AS" sz="4800" dirty="0"/>
          </a:p>
          <a:p>
            <a:pPr algn="l"/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A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Excellence / Contribution</a:t>
            </a:r>
            <a:endParaRPr lang="de-CH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8200" dirty="0"/>
              <a:t>         	Applied responsive UI design for consistent use across desktop and mobile devices.</a:t>
            </a:r>
          </a:p>
          <a:p>
            <a:pPr algn="l">
              <a:spcBef>
                <a:spcPct val="20000"/>
              </a:spcBef>
            </a:pPr>
            <a:r>
              <a:rPr lang="en-US" sz="8800" dirty="0"/>
              <a:t>        	Integrated real time visual feedback during image upload and analysis.</a:t>
            </a:r>
          </a:p>
          <a:p>
            <a:pPr algn="l">
              <a:spcBef>
                <a:spcPct val="20000"/>
              </a:spcBef>
            </a:pPr>
            <a:r>
              <a:rPr lang="en-US" sz="8800" dirty="0"/>
              <a:t>        	Optimized system performance for quick and accurate outfit predictions.</a:t>
            </a:r>
          </a:p>
          <a:p>
            <a:pPr algn="l"/>
            <a:endParaRPr lang="en-AS" sz="8800" dirty="0"/>
          </a:p>
        </p:txBody>
      </p:sp>
    </p:spTree>
    <p:extLst>
      <p:ext uri="{BB962C8B-B14F-4D97-AF65-F5344CB8AC3E}">
        <p14:creationId xmlns:p14="http://schemas.microsoft.com/office/powerpoint/2010/main" val="402864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0516"/>
            <a:ext cx="10515600" cy="1170346"/>
          </a:xfrm>
        </p:spPr>
        <p:txBody>
          <a:bodyPr/>
          <a:lstStyle/>
          <a:p>
            <a:r>
              <a:rPr lang="en-US" b="1" dirty="0"/>
              <a:t>      IT22208194 | VISHNUYAN.T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Accessory Recommendation &amp; Customization System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Specialization: </a:t>
            </a:r>
            <a:r>
              <a:rPr lang="en-US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IT22208194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T.Vishnuyan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25-26J-302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2" name="Picture 1" descr="A person leaning on a railing by water&#10;&#10;AI-generated content may be incorrect.">
            <a:extLst>
              <a:ext uri="{FF2B5EF4-FFF2-40B4-BE49-F238E27FC236}">
                <a16:creationId xmlns:a16="http://schemas.microsoft.com/office/drawing/2014/main" id="{D385BEB4-A5D0-940D-1860-663FB43B23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76200"/>
            <a:ext cx="2057400" cy="258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1B214-4612-7170-0B08-4CEAE7C1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5742CC7-30CC-FC23-1C68-DD222D1C32A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lang="en-US" spc="-10" dirty="0"/>
              <a:t>IT22208194</a:t>
            </a:r>
            <a:r>
              <a:rPr lang="en-US" dirty="0"/>
              <a:t>	</a:t>
            </a:r>
            <a:r>
              <a:rPr lang="en-US" b="0" spc="-50" dirty="0"/>
              <a:t>|</a:t>
            </a:r>
            <a:endParaRPr b="0" spc="-50" dirty="0">
              <a:latin typeface="Cambria"/>
              <a:cs typeface="Cambr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78D9BEE-08BD-FA2A-7F5C-3045B4DC6F32}"/>
              </a:ext>
            </a:extLst>
          </p:cNvPr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sz="1800" dirty="0">
                <a:latin typeface="Cambria"/>
                <a:cs typeface="Cambria"/>
              </a:rPr>
              <a:t>T.VISHNUYAN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AA6538-4CDD-8708-92CF-0F5F7A89FA7C}"/>
              </a:ext>
            </a:extLst>
          </p:cNvPr>
          <p:cNvSpPr txBox="1"/>
          <p:nvPr/>
        </p:nvSpPr>
        <p:spPr>
          <a:xfrm>
            <a:off x="6824695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z="1800" spc="-10" dirty="0">
                <a:latin typeface="Cambria"/>
                <a:cs typeface="Cambria"/>
              </a:rPr>
              <a:t>25-26J-302</a:t>
            </a:r>
            <a:endParaRPr lang="en-US" sz="1800" dirty="0">
              <a:latin typeface="Cambria"/>
              <a:cs typeface="Cambri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6E2E461-CFA0-8CA2-F96C-CA5B3BE1552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490070" y="6559759"/>
            <a:ext cx="19494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pc="-50" smtClean="0"/>
              <a:pPr marL="38100">
                <a:lnSpc>
                  <a:spcPct val="100000"/>
                </a:lnSpc>
                <a:spcBef>
                  <a:spcPts val="35"/>
                </a:spcBef>
              </a:pPr>
              <a:t>22</a:t>
            </a:fld>
            <a:endParaRPr spc="-5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E4D1C7-B205-E8BF-E8A5-90E24B083267}"/>
              </a:ext>
            </a:extLst>
          </p:cNvPr>
          <p:cNvSpPr txBox="1">
            <a:spLocks noGrp="1"/>
          </p:cNvSpPr>
          <p:nvPr/>
        </p:nvSpPr>
        <p:spPr>
          <a:xfrm>
            <a:off x="20309" y="381000"/>
            <a:ext cx="12200464" cy="4139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Accessory Recommendation &amp; Customization System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DC56FEB-CA2A-08DA-610E-3E2CDB55E621}"/>
              </a:ext>
            </a:extLst>
          </p:cNvPr>
          <p:cNvSpPr txBox="1"/>
          <p:nvPr/>
        </p:nvSpPr>
        <p:spPr>
          <a:xfrm>
            <a:off x="313894" y="3276600"/>
            <a:ext cx="11613291" cy="22427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addressed by the solution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wants realistic necklace recommendations, not just text.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expects neckline-appropriate necklace placement.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prefers fashion-accurate and visually appealing outputs.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high-quality images quickly and automatically.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ACF7044-33F4-7877-26C4-5724631C5191}"/>
              </a:ext>
            </a:extLst>
          </p:cNvPr>
          <p:cNvSpPr txBox="1">
            <a:spLocks noGrp="1"/>
          </p:cNvSpPr>
          <p:nvPr/>
        </p:nvSpPr>
        <p:spPr>
          <a:xfrm>
            <a:off x="313894" y="1219194"/>
            <a:ext cx="11613291" cy="16764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/ Knowledge Gap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accessory specific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Existing systems focus on clothing, neglecting accessories.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user-driven customization with visuals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Current platforms rarely allow users to design custom accessories or provide visual previews, limiting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2258102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DA29-F625-142A-1960-D40E78C0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6392BCB0-B1E1-EF11-E6EC-A1FCE589951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lang="en-US" spc="-10" dirty="0"/>
              <a:t>IT22208194</a:t>
            </a:r>
            <a:r>
              <a:rPr lang="en-US" dirty="0"/>
              <a:t>	</a:t>
            </a:r>
            <a:r>
              <a:rPr lang="en-US" b="0" spc="-50" dirty="0"/>
              <a:t>|</a:t>
            </a:r>
            <a:endParaRPr b="0" spc="-50" dirty="0">
              <a:latin typeface="Cambria"/>
              <a:cs typeface="Cambr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15C8B64-3BFA-4DD8-72F5-D6BB23B8E399}"/>
              </a:ext>
            </a:extLst>
          </p:cNvPr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sz="1800" dirty="0">
                <a:latin typeface="Cambria"/>
                <a:cs typeface="Cambria"/>
              </a:rPr>
              <a:t>T.VISHNUYAN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CE3DA13-6222-F514-4B8F-144E344561AE}"/>
              </a:ext>
            </a:extLst>
          </p:cNvPr>
          <p:cNvSpPr txBox="1"/>
          <p:nvPr/>
        </p:nvSpPr>
        <p:spPr>
          <a:xfrm>
            <a:off x="6824695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z="1800" spc="-10" dirty="0">
                <a:latin typeface="Cambria"/>
                <a:cs typeface="Cambria"/>
              </a:rPr>
              <a:t>25-26J-302</a:t>
            </a:r>
            <a:endParaRPr lang="en-US" sz="1800" dirty="0">
              <a:latin typeface="Cambria"/>
              <a:cs typeface="Cambri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8C575DD-51A4-0293-70F0-74AE998D9B8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490070" y="6559759"/>
            <a:ext cx="19494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pc="-50" smtClean="0"/>
              <a:pPr marL="38100">
                <a:lnSpc>
                  <a:spcPct val="100000"/>
                </a:lnSpc>
                <a:spcBef>
                  <a:spcPts val="35"/>
                </a:spcBef>
              </a:pPr>
              <a:t>23</a:t>
            </a:fld>
            <a:endParaRPr spc="-5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75EBB45-78F4-3A39-B340-ABA75FF1DEE0}"/>
              </a:ext>
            </a:extLst>
          </p:cNvPr>
          <p:cNvSpPr txBox="1">
            <a:spLocks noGrp="1"/>
          </p:cNvSpPr>
          <p:nvPr/>
        </p:nvSpPr>
        <p:spPr>
          <a:xfrm>
            <a:off x="20309" y="381000"/>
            <a:ext cx="12200464" cy="4139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Accessory Recommendation &amp; Customization System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C49B4F9-43A2-8DF0-217A-177FD6220045}"/>
              </a:ext>
            </a:extLst>
          </p:cNvPr>
          <p:cNvSpPr txBox="1">
            <a:spLocks noGrp="1"/>
          </p:cNvSpPr>
          <p:nvPr/>
        </p:nvSpPr>
        <p:spPr>
          <a:xfrm>
            <a:off x="313894" y="914400"/>
            <a:ext cx="11613291" cy="3505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Excellence/Contribution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 &amp; Preprocessing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a dress image, which is resized and prepared for analysis.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Detection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tone and neckline are detected using </a:t>
            </a: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dress color is extracted using K-Means.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Generation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features are combined to generate a custom SDXL text prompt.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Necklace Image Generation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ComfyUI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SDXL diffusion model generates a realistic necklace image.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Output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stored using FAISS and displayed to the user.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C9E6A25-D234-1CF8-DAB9-1AA67E00C22F}"/>
              </a:ext>
            </a:extLst>
          </p:cNvPr>
          <p:cNvSpPr txBox="1"/>
          <p:nvPr/>
        </p:nvSpPr>
        <p:spPr>
          <a:xfrm>
            <a:off x="313894" y="4572000"/>
            <a:ext cx="11613291" cy="1447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on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found the generated necklace images realistic and visually appealing.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preferred image-based recommendations over text suggestions.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suggested adding manual customization options (size, length, material).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903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C368-464F-071C-E691-81B38F46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EF4F4957-907C-E269-56C9-EF8E960B57D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lang="en-US" spc="-10" dirty="0"/>
              <a:t>IT22208194</a:t>
            </a:r>
            <a:r>
              <a:rPr lang="en-US" dirty="0"/>
              <a:t>	</a:t>
            </a:r>
            <a:r>
              <a:rPr lang="en-US" b="0" spc="-50" dirty="0"/>
              <a:t>|</a:t>
            </a:r>
            <a:endParaRPr b="0" spc="-50" dirty="0">
              <a:latin typeface="Cambria"/>
              <a:cs typeface="Cambr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5FA689D-C260-1718-4CEA-3AFB1101B1F3}"/>
              </a:ext>
            </a:extLst>
          </p:cNvPr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sz="1800" dirty="0">
                <a:latin typeface="Cambria"/>
                <a:cs typeface="Cambria"/>
              </a:rPr>
              <a:t>T.VISHNUYAN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40113C5-9E3E-DFB6-6430-F364F0DFEA85}"/>
              </a:ext>
            </a:extLst>
          </p:cNvPr>
          <p:cNvSpPr txBox="1"/>
          <p:nvPr/>
        </p:nvSpPr>
        <p:spPr>
          <a:xfrm>
            <a:off x="6824695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z="1800" spc="-10" dirty="0">
                <a:latin typeface="Cambria"/>
                <a:cs typeface="Cambria"/>
              </a:rPr>
              <a:t>25-26J-302</a:t>
            </a:r>
            <a:endParaRPr lang="en-US" sz="1800" dirty="0">
              <a:latin typeface="Cambria"/>
              <a:cs typeface="Cambri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E367E4F-F7FF-1C2C-340B-5E078ACEE66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490070" y="6559759"/>
            <a:ext cx="194945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pc="-50" smtClean="0"/>
              <a:pPr marL="38100">
                <a:lnSpc>
                  <a:spcPct val="100000"/>
                </a:lnSpc>
                <a:spcBef>
                  <a:spcPts val="35"/>
                </a:spcBef>
              </a:pPr>
              <a:t>24</a:t>
            </a:fld>
            <a:endParaRPr spc="-5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81B058-B0C2-92E2-A1C4-B8586702B5DD}"/>
              </a:ext>
            </a:extLst>
          </p:cNvPr>
          <p:cNvSpPr txBox="1">
            <a:spLocks noGrp="1"/>
          </p:cNvSpPr>
          <p:nvPr/>
        </p:nvSpPr>
        <p:spPr>
          <a:xfrm>
            <a:off x="20309" y="381000"/>
            <a:ext cx="12200464" cy="4139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Accessory Recommendation &amp; Customization System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6D4C5F1-C89B-FB54-E5CE-F85180A4BF6F}"/>
              </a:ext>
            </a:extLst>
          </p:cNvPr>
          <p:cNvSpPr txBox="1">
            <a:spLocks noGrp="1"/>
          </p:cNvSpPr>
          <p:nvPr/>
        </p:nvSpPr>
        <p:spPr>
          <a:xfrm>
            <a:off x="313894" y="1219194"/>
            <a:ext cx="11613291" cy="4139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System Diagram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white rectangular sign with black text">
            <a:extLst>
              <a:ext uri="{FF2B5EF4-FFF2-40B4-BE49-F238E27FC236}">
                <a16:creationId xmlns:a16="http://schemas.microsoft.com/office/drawing/2014/main" id="{734AFCB4-AB8B-750C-DA6C-E32B2568D3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69" y="2255008"/>
            <a:ext cx="11125200" cy="234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57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A0EB2C0-F59B-4EAB-9F71-714A80F65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Autofit/>
          </a:bodyPr>
          <a:lstStyle/>
          <a:p>
            <a:r>
              <a:rPr lang="en-US" sz="9600">
                <a:solidFill>
                  <a:schemeClr val="accent2">
                    <a:lumMod val="49000"/>
                  </a:schemeClr>
                </a:solidFill>
                <a:latin typeface="Adobe Devanagari"/>
              </a:rPr>
              <a:t>Thank You </a:t>
            </a:r>
            <a:endParaRPr lang="en-US" sz="8000">
              <a:solidFill>
                <a:schemeClr val="accent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48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FFF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0268B866EE4D43BEE5A10A10E9F4A0" ma:contentTypeVersion="14" ma:contentTypeDescription="Create a new document." ma:contentTypeScope="" ma:versionID="61d5fb5e9ef1c9958a8d29b1fb688ec1">
  <xsd:schema xmlns:xsd="http://www.w3.org/2001/XMLSchema" xmlns:xs="http://www.w3.org/2001/XMLSchema" xmlns:p="http://schemas.microsoft.com/office/2006/metadata/properties" xmlns:ns3="f8e8afad-6209-4711-b521-961c659a2f73" xmlns:ns4="e7de9d32-41c0-4bf1-9258-3330d03b0522" targetNamespace="http://schemas.microsoft.com/office/2006/metadata/properties" ma:root="true" ma:fieldsID="dfd2737ff07b5696793a6c9f19faafd4" ns3:_="" ns4:_="">
    <xsd:import namespace="f8e8afad-6209-4711-b521-961c659a2f73"/>
    <xsd:import namespace="e7de9d32-41c0-4bf1-9258-3330d03b052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e8afad-6209-4711-b521-961c659a2f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e9d32-41c0-4bf1-9258-3330d03b052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e8afad-6209-4711-b521-961c659a2f73" xsi:nil="true"/>
  </documentManagement>
</p:properties>
</file>

<file path=customXml/itemProps1.xml><?xml version="1.0" encoding="utf-8"?>
<ds:datastoreItem xmlns:ds="http://schemas.openxmlformats.org/officeDocument/2006/customXml" ds:itemID="{CC7F7A8D-E05B-4FA0-9C7E-1C2ADED921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e8afad-6209-4711-b521-961c659a2f73"/>
    <ds:schemaRef ds:uri="e7de9d32-41c0-4bf1-9258-3330d03b05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e7de9d32-41c0-4bf1-9258-3330d03b0522"/>
    <ds:schemaRef ds:uri="http://schemas.microsoft.com/office/2006/metadata/properties"/>
    <ds:schemaRef ds:uri="http://schemas.microsoft.com/office/2006/documentManagement/types"/>
    <ds:schemaRef ds:uri="f8e8afad-6209-4711-b521-961c659a2f73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1959</TotalTime>
  <Words>1525</Words>
  <Application>Microsoft Office PowerPoint</Application>
  <PresentationFormat>Widescreen</PresentationFormat>
  <Paragraphs>285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ADLaM Display</vt:lpstr>
      <vt:lpstr>Adobe Devanagari</vt:lpstr>
      <vt:lpstr>Amasis MT Pro Black</vt:lpstr>
      <vt:lpstr>Arial</vt:lpstr>
      <vt:lpstr>Calibri</vt:lpstr>
      <vt:lpstr>Calibri Light</vt:lpstr>
      <vt:lpstr>Cambria</vt:lpstr>
      <vt:lpstr>Times New Roman</vt:lpstr>
      <vt:lpstr>Wingdings</vt:lpstr>
      <vt:lpstr>Office 2013 - 2022 Theme</vt:lpstr>
      <vt:lpstr>PowerPoint Presentation</vt:lpstr>
      <vt:lpstr>Introduction</vt:lpstr>
      <vt:lpstr>Research Problem</vt:lpstr>
      <vt:lpstr>Research Gap</vt:lpstr>
      <vt:lpstr>Research Question:</vt:lpstr>
      <vt:lpstr>Design Excellence / Contribution</vt:lpstr>
      <vt:lpstr>PowerPoint Presentation</vt:lpstr>
      <vt:lpstr>PowerPoint Presentation</vt:lpstr>
      <vt:lpstr>PowerPoint Presentation</vt:lpstr>
      <vt:lpstr>PowerPoint Presentation</vt:lpstr>
      <vt:lpstr>Implementation Details</vt:lpstr>
      <vt:lpstr>How to use in a real-world scenario</vt:lpstr>
      <vt:lpstr>PowerPoint Presentation</vt:lpstr>
      <vt:lpstr>PowerPoint Presentation</vt:lpstr>
      <vt:lpstr>Event Theme Based Outfit Matching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IT22208194 | VISHNUYAN.T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ABIRAJH A it22066848</dc:creator>
  <cp:lastModifiedBy>Shangeetha J. it21188886</cp:lastModifiedBy>
  <cp:revision>8</cp:revision>
  <dcterms:created xsi:type="dcterms:W3CDTF">2025-09-06T03:52:10Z</dcterms:created>
  <dcterms:modified xsi:type="dcterms:W3CDTF">2026-04-26T12:11:34Z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0x0101000A0268B866EE4D43BEE5A10A10E9F4A0</vt:lpwstr>
  </property>
</Properties>
</file>